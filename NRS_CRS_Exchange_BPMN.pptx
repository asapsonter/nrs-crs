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12"/>
    <p:restoredTop sz="94610"/>
  </p:normalViewPr>
  <p:slideViewPr>
    <p:cSldViewPr snapToGrid="0" snapToObjects="1">
      <p:cViewPr varScale="1">
        <p:scale>
          <a:sx n="143" d="100"/>
          <a:sy n="143" d="100"/>
        </p:scale>
        <p:origin x="116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3586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464C"/>
        </a:solidFill>
        <a:effectLst/>
      </p:bgPr>
    </p:bg>
    <p:spTree>
      <p:nvGrpSpPr>
        <p:cNvPr id="1" name=""/>
        <p:cNvGrpSpPr/>
        <p:nvPr/>
      </p:nvGrpSpPr>
      <p:grpSpPr>
        <a:xfrm>
          <a:off x="0" y="0"/>
          <a:ext cx="0" cy="0"/>
          <a:chOff x="0" y="0"/>
          <a:chExt cx="0" cy="0"/>
        </a:xfrm>
      </p:grpSpPr>
      <p:sp>
        <p:nvSpPr>
          <p:cNvPr id="2" name="Shape 0"/>
          <p:cNvSpPr/>
          <p:nvPr/>
        </p:nvSpPr>
        <p:spPr>
          <a:xfrm>
            <a:off x="9966960" y="-1554480"/>
            <a:ext cx="4023360" cy="4023360"/>
          </a:xfrm>
          <a:prstGeom prst="ellipse">
            <a:avLst/>
          </a:prstGeom>
          <a:solidFill>
            <a:srgbClr val="4A525A"/>
          </a:solidFill>
          <a:ln/>
        </p:spPr>
        <p:txBody>
          <a:bodyPr/>
          <a:lstStyle/>
          <a:p>
            <a:endParaRPr lang="en-US"/>
          </a:p>
        </p:txBody>
      </p:sp>
      <p:sp>
        <p:nvSpPr>
          <p:cNvPr id="3" name="Shape 1"/>
          <p:cNvSpPr/>
          <p:nvPr/>
        </p:nvSpPr>
        <p:spPr>
          <a:xfrm>
            <a:off x="10881360" y="4114800"/>
            <a:ext cx="3108960" cy="3108960"/>
          </a:xfrm>
          <a:prstGeom prst="ellipse">
            <a:avLst/>
          </a:prstGeom>
          <a:solidFill>
            <a:srgbClr val="C8102E">
              <a:alpha val="26000"/>
            </a:srgbClr>
          </a:solidFill>
          <a:ln/>
        </p:spPr>
        <p:txBody>
          <a:bodyPr/>
          <a:lstStyle/>
          <a:p>
            <a:endParaRPr lang="en-US"/>
          </a:p>
        </p:txBody>
      </p:sp>
      <p:sp>
        <p:nvSpPr>
          <p:cNvPr id="4" name="Shape 2"/>
          <p:cNvSpPr/>
          <p:nvPr/>
        </p:nvSpPr>
        <p:spPr>
          <a:xfrm>
            <a:off x="-1188720" y="4663440"/>
            <a:ext cx="3017520" cy="3017520"/>
          </a:xfrm>
          <a:prstGeom prst="ellipse">
            <a:avLst/>
          </a:prstGeom>
          <a:solidFill>
            <a:srgbClr val="6E767D">
              <a:alpha val="30000"/>
            </a:srgbClr>
          </a:solidFill>
          <a:ln/>
        </p:spPr>
        <p:txBody>
          <a:bodyPr/>
          <a:lstStyle/>
          <a:p>
            <a:endParaRPr lang="en-US"/>
          </a:p>
        </p:txBody>
      </p:sp>
      <p:sp>
        <p:nvSpPr>
          <p:cNvPr id="5" name="Shape 3"/>
          <p:cNvSpPr/>
          <p:nvPr/>
        </p:nvSpPr>
        <p:spPr>
          <a:xfrm>
            <a:off x="731520" y="548640"/>
            <a:ext cx="2743200" cy="914400"/>
          </a:xfrm>
          <a:prstGeom prst="roundRect">
            <a:avLst>
              <a:gd name="adj" fmla="val 8000"/>
            </a:avLst>
          </a:prstGeom>
          <a:solidFill>
            <a:srgbClr val="FFFFFF"/>
          </a:solidFill>
          <a:ln/>
          <a:effectLst>
            <a:outerShdw blurRad="88900" dist="38100" dir="5400000" algn="bl" rotWithShape="0">
              <a:srgbClr val="2B3036">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713232"/>
            <a:ext cx="2377440" cy="672068"/>
          </a:xfrm>
          <a:prstGeom prst="rect">
            <a:avLst/>
          </a:prstGeom>
        </p:spPr>
      </p:pic>
      <p:sp>
        <p:nvSpPr>
          <p:cNvPr id="7" name="Text 4"/>
          <p:cNvSpPr/>
          <p:nvPr/>
        </p:nvSpPr>
        <p:spPr>
          <a:xfrm>
            <a:off x="749808" y="1874520"/>
            <a:ext cx="10058400" cy="365760"/>
          </a:xfrm>
          <a:prstGeom prst="rect">
            <a:avLst/>
          </a:prstGeom>
          <a:noFill/>
          <a:ln/>
        </p:spPr>
        <p:txBody>
          <a:bodyPr wrap="square" rtlCol="0" anchor="ctr"/>
          <a:lstStyle/>
          <a:p>
            <a:pPr marL="0" indent="0">
              <a:buNone/>
            </a:pPr>
            <a:r>
              <a:rPr lang="en-US" sz="1300" b="1" kern="0" spc="300" dirty="0">
                <a:solidFill>
                  <a:srgbClr val="C8102E"/>
                </a:solidFill>
                <a:latin typeface="Tahoma" pitchFamily="34" charset="0"/>
                <a:ea typeface="Tahoma" pitchFamily="34" charset="-122"/>
                <a:cs typeface="Tahoma" pitchFamily="34" charset="-120"/>
              </a:rPr>
              <a:t>BPMN PROCESS DOCUMENT</a:t>
            </a:r>
            <a:endParaRPr lang="en-US" sz="1300" dirty="0"/>
          </a:p>
        </p:txBody>
      </p:sp>
      <p:sp>
        <p:nvSpPr>
          <p:cNvPr id="8" name="Text 5"/>
          <p:cNvSpPr/>
          <p:nvPr/>
        </p:nvSpPr>
        <p:spPr>
          <a:xfrm>
            <a:off x="731520" y="2286000"/>
            <a:ext cx="10515600" cy="868680"/>
          </a:xfrm>
          <a:prstGeom prst="rect">
            <a:avLst/>
          </a:prstGeom>
          <a:noFill/>
          <a:ln/>
        </p:spPr>
        <p:txBody>
          <a:bodyPr wrap="square" rtlCol="0" anchor="ctr"/>
          <a:lstStyle/>
          <a:p>
            <a:pPr marL="0" indent="0">
              <a:buNone/>
            </a:pPr>
            <a:r>
              <a:rPr lang="en-US" sz="4200" b="1" dirty="0">
                <a:solidFill>
                  <a:srgbClr val="FFFFFF"/>
                </a:solidFill>
                <a:latin typeface="Tahoma" pitchFamily="34" charset="0"/>
                <a:ea typeface="Tahoma" pitchFamily="34" charset="-122"/>
                <a:cs typeface="Tahoma" pitchFamily="34" charset="-120"/>
              </a:rPr>
              <a:t>CRS Information Exchange</a:t>
            </a:r>
            <a:endParaRPr lang="en-US" sz="4200" dirty="0"/>
          </a:p>
        </p:txBody>
      </p:sp>
      <p:sp>
        <p:nvSpPr>
          <p:cNvPr id="9" name="Text 6"/>
          <p:cNvSpPr/>
          <p:nvPr/>
        </p:nvSpPr>
        <p:spPr>
          <a:xfrm>
            <a:off x="731520" y="3127248"/>
            <a:ext cx="10515600" cy="640080"/>
          </a:xfrm>
          <a:prstGeom prst="rect">
            <a:avLst/>
          </a:prstGeom>
          <a:noFill/>
          <a:ln/>
        </p:spPr>
        <p:txBody>
          <a:bodyPr wrap="square" rtlCol="0" anchor="ctr"/>
          <a:lstStyle/>
          <a:p>
            <a:pPr marL="0" indent="0">
              <a:buNone/>
            </a:pPr>
            <a:r>
              <a:rPr lang="en-US" sz="2600" b="1" dirty="0">
                <a:solidFill>
                  <a:srgbClr val="9AA1A7"/>
                </a:solidFill>
                <a:latin typeface="Tahoma" pitchFamily="34" charset="0"/>
                <a:ea typeface="Tahoma" pitchFamily="34" charset="-122"/>
                <a:cs typeface="Tahoma" pitchFamily="34" charset="-120"/>
              </a:rPr>
              <a:t>Outgoing &amp; Incoming Workflows</a:t>
            </a:r>
            <a:endParaRPr lang="en-US" sz="2600" dirty="0"/>
          </a:p>
        </p:txBody>
      </p:sp>
      <p:sp>
        <p:nvSpPr>
          <p:cNvPr id="10" name="Text 7"/>
          <p:cNvSpPr/>
          <p:nvPr/>
        </p:nvSpPr>
        <p:spPr>
          <a:xfrm>
            <a:off x="749808" y="3840480"/>
            <a:ext cx="8229600" cy="1097280"/>
          </a:xfrm>
          <a:prstGeom prst="rect">
            <a:avLst/>
          </a:prstGeom>
          <a:noFill/>
          <a:ln/>
        </p:spPr>
        <p:txBody>
          <a:bodyPr wrap="square" rtlCol="0" anchor="ctr"/>
          <a:lstStyle/>
          <a:p>
            <a:pPr marL="0" indent="0">
              <a:lnSpc>
                <a:spcPts val="2100"/>
              </a:lnSpc>
              <a:buNone/>
            </a:pPr>
            <a:r>
              <a:rPr lang="en-US" sz="1350" dirty="0">
                <a:solidFill>
                  <a:srgbClr val="C7CCD1"/>
                </a:solidFill>
                <a:latin typeface="Tahoma" pitchFamily="34" charset="0"/>
                <a:ea typeface="Tahoma" pitchFamily="34" charset="-122"/>
                <a:cs typeface="Tahoma" pitchFamily="34" charset="-120"/>
              </a:rPr>
              <a:t>A unified view of the Nigeria Revenue Service Competent Authority process for exchanging CRS information under the OECD Common Reporting Standard sending validated data to partner jurisdictions and receiving, validating and disseminating inbound data via the Common Transmission System (CTS).</a:t>
            </a:r>
            <a:endParaRPr lang="en-US" sz="1350" dirty="0"/>
          </a:p>
        </p:txBody>
      </p:sp>
      <p:sp>
        <p:nvSpPr>
          <p:cNvPr id="11" name="Shape 8"/>
          <p:cNvSpPr/>
          <p:nvPr/>
        </p:nvSpPr>
        <p:spPr>
          <a:xfrm>
            <a:off x="749808" y="5120640"/>
            <a:ext cx="5212080" cy="1051560"/>
          </a:xfrm>
          <a:prstGeom prst="roundRect">
            <a:avLst>
              <a:gd name="adj" fmla="val 8696"/>
            </a:avLst>
          </a:prstGeom>
          <a:solidFill>
            <a:srgbClr val="4A525A"/>
          </a:solidFill>
          <a:ln/>
          <a:effectLst>
            <a:outerShdw blurRad="88900" dist="38100" dir="5400000" algn="bl" rotWithShape="0">
              <a:srgbClr val="2B3036">
                <a:alpha val="18000"/>
              </a:srgbClr>
            </a:outerShdw>
          </a:effectLst>
        </p:spPr>
        <p:txBody>
          <a:bodyPr/>
          <a:lstStyle/>
          <a:p>
            <a:endParaRPr lang="en-US"/>
          </a:p>
        </p:txBody>
      </p:sp>
      <p:sp>
        <p:nvSpPr>
          <p:cNvPr id="12" name="Shape 9"/>
          <p:cNvSpPr/>
          <p:nvPr/>
        </p:nvSpPr>
        <p:spPr>
          <a:xfrm>
            <a:off x="1005840" y="5358384"/>
            <a:ext cx="566928" cy="566928"/>
          </a:xfrm>
          <a:prstGeom prst="ellipse">
            <a:avLst/>
          </a:prstGeom>
          <a:solidFill>
            <a:srgbClr val="C8102E"/>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1152144" y="5504688"/>
            <a:ext cx="274320" cy="274320"/>
          </a:xfrm>
          <a:prstGeom prst="rect">
            <a:avLst/>
          </a:prstGeom>
        </p:spPr>
      </p:pic>
      <p:sp>
        <p:nvSpPr>
          <p:cNvPr id="14" name="Text 10"/>
          <p:cNvSpPr/>
          <p:nvPr/>
        </p:nvSpPr>
        <p:spPr>
          <a:xfrm>
            <a:off x="1737360" y="5230368"/>
            <a:ext cx="4114800" cy="365760"/>
          </a:xfrm>
          <a:prstGeom prst="rect">
            <a:avLst/>
          </a:prstGeom>
          <a:noFill/>
          <a:ln/>
        </p:spPr>
        <p:txBody>
          <a:bodyPr wrap="square" rtlCol="0" anchor="ctr"/>
          <a:lstStyle/>
          <a:p>
            <a:pPr marL="0" indent="0">
              <a:buNone/>
            </a:pPr>
            <a:r>
              <a:rPr lang="en-US" sz="1400" b="1" dirty="0">
                <a:solidFill>
                  <a:srgbClr val="FFFFFF"/>
                </a:solidFill>
                <a:latin typeface="Tahoma" pitchFamily="34" charset="0"/>
                <a:ea typeface="Tahoma" pitchFamily="34" charset="-122"/>
                <a:cs typeface="Tahoma" pitchFamily="34" charset="-120"/>
              </a:rPr>
              <a:t>OUTGOING FLOW</a:t>
            </a:r>
            <a:endParaRPr lang="en-US" sz="1400" dirty="0"/>
          </a:p>
        </p:txBody>
      </p:sp>
      <p:sp>
        <p:nvSpPr>
          <p:cNvPr id="15" name="Text 11"/>
          <p:cNvSpPr/>
          <p:nvPr/>
        </p:nvSpPr>
        <p:spPr>
          <a:xfrm>
            <a:off x="1737360" y="5577840"/>
            <a:ext cx="4114800" cy="502920"/>
          </a:xfrm>
          <a:prstGeom prst="rect">
            <a:avLst/>
          </a:prstGeom>
          <a:noFill/>
          <a:ln/>
        </p:spPr>
        <p:txBody>
          <a:bodyPr wrap="square" rtlCol="0" anchor="ctr"/>
          <a:lstStyle/>
          <a:p>
            <a:pPr marL="0" indent="0">
              <a:lnSpc>
                <a:spcPts val="1300"/>
              </a:lnSpc>
              <a:buNone/>
            </a:pPr>
            <a:r>
              <a:rPr lang="en-US" sz="1050" dirty="0">
                <a:solidFill>
                  <a:srgbClr val="C7CCD1"/>
                </a:solidFill>
                <a:latin typeface="Tahoma" pitchFamily="34" charset="0"/>
                <a:ea typeface="Tahoma" pitchFamily="34" charset="-122"/>
                <a:cs typeface="Tahoma" pitchFamily="34" charset="-120"/>
              </a:rPr>
              <a:t>RFI onboarding → validation → transmission to jurisdictions</a:t>
            </a:r>
            <a:endParaRPr lang="en-US" sz="1050" dirty="0"/>
          </a:p>
        </p:txBody>
      </p:sp>
      <p:sp>
        <p:nvSpPr>
          <p:cNvPr id="16" name="Shape 12"/>
          <p:cNvSpPr/>
          <p:nvPr/>
        </p:nvSpPr>
        <p:spPr>
          <a:xfrm>
            <a:off x="6190488" y="5120640"/>
            <a:ext cx="5212080" cy="1051560"/>
          </a:xfrm>
          <a:prstGeom prst="roundRect">
            <a:avLst>
              <a:gd name="adj" fmla="val 8696"/>
            </a:avLst>
          </a:prstGeom>
          <a:solidFill>
            <a:srgbClr val="4A525A"/>
          </a:solidFill>
          <a:ln/>
          <a:effectLst>
            <a:outerShdw blurRad="88900" dist="38100" dir="5400000" algn="bl" rotWithShape="0">
              <a:srgbClr val="2B3036">
                <a:alpha val="18000"/>
              </a:srgbClr>
            </a:outerShdw>
          </a:effectLst>
        </p:spPr>
        <p:txBody>
          <a:bodyPr/>
          <a:lstStyle/>
          <a:p>
            <a:endParaRPr lang="en-US"/>
          </a:p>
        </p:txBody>
      </p:sp>
      <p:sp>
        <p:nvSpPr>
          <p:cNvPr id="17" name="Shape 13"/>
          <p:cNvSpPr/>
          <p:nvPr/>
        </p:nvSpPr>
        <p:spPr>
          <a:xfrm>
            <a:off x="6446520" y="5358384"/>
            <a:ext cx="566928" cy="566928"/>
          </a:xfrm>
          <a:prstGeom prst="ellipse">
            <a:avLst/>
          </a:prstGeom>
          <a:solidFill>
            <a:srgbClr val="C8102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6592824" y="5504688"/>
            <a:ext cx="274320" cy="274320"/>
          </a:xfrm>
          <a:prstGeom prst="rect">
            <a:avLst/>
          </a:prstGeom>
        </p:spPr>
      </p:pic>
      <p:sp>
        <p:nvSpPr>
          <p:cNvPr id="19" name="Text 14"/>
          <p:cNvSpPr/>
          <p:nvPr/>
        </p:nvSpPr>
        <p:spPr>
          <a:xfrm>
            <a:off x="7178040" y="5230368"/>
            <a:ext cx="4114800" cy="365760"/>
          </a:xfrm>
          <a:prstGeom prst="rect">
            <a:avLst/>
          </a:prstGeom>
          <a:noFill/>
          <a:ln/>
        </p:spPr>
        <p:txBody>
          <a:bodyPr wrap="square" rtlCol="0" anchor="ctr"/>
          <a:lstStyle/>
          <a:p>
            <a:pPr marL="0" indent="0">
              <a:buNone/>
            </a:pPr>
            <a:r>
              <a:rPr lang="en-US" sz="1400" b="1" dirty="0">
                <a:solidFill>
                  <a:srgbClr val="FFFFFF"/>
                </a:solidFill>
                <a:latin typeface="Tahoma" pitchFamily="34" charset="0"/>
                <a:ea typeface="Tahoma" pitchFamily="34" charset="-122"/>
                <a:cs typeface="Tahoma" pitchFamily="34" charset="-120"/>
              </a:rPr>
              <a:t>INCOMING FLOW</a:t>
            </a:r>
            <a:endParaRPr lang="en-US" sz="1400" dirty="0"/>
          </a:p>
        </p:txBody>
      </p:sp>
      <p:sp>
        <p:nvSpPr>
          <p:cNvPr id="20" name="Text 15"/>
          <p:cNvSpPr/>
          <p:nvPr/>
        </p:nvSpPr>
        <p:spPr>
          <a:xfrm>
            <a:off x="7178040" y="5577840"/>
            <a:ext cx="4114800" cy="502920"/>
          </a:xfrm>
          <a:prstGeom prst="rect">
            <a:avLst/>
          </a:prstGeom>
          <a:noFill/>
          <a:ln/>
        </p:spPr>
        <p:txBody>
          <a:bodyPr wrap="square" rtlCol="0" anchor="ctr"/>
          <a:lstStyle/>
          <a:p>
            <a:pPr marL="0" indent="0">
              <a:lnSpc>
                <a:spcPts val="1300"/>
              </a:lnSpc>
              <a:buNone/>
            </a:pPr>
            <a:r>
              <a:rPr lang="en-US" sz="1050" dirty="0">
                <a:solidFill>
                  <a:srgbClr val="C7CCD1"/>
                </a:solidFill>
                <a:latin typeface="Tahoma" pitchFamily="34" charset="0"/>
                <a:ea typeface="Tahoma" pitchFamily="34" charset="-122"/>
                <a:cs typeface="Tahoma" pitchFamily="34" charset="-120"/>
              </a:rPr>
              <a:t>Receipt via CTS → validation → dissemination to tax authorities</a:t>
            </a:r>
            <a:endParaRPr lang="en-US" sz="1050" dirty="0"/>
          </a:p>
        </p:txBody>
      </p:sp>
      <p:sp>
        <p:nvSpPr>
          <p:cNvPr id="24" name="TextBox 23">
            <a:extLst>
              <a:ext uri="{FF2B5EF4-FFF2-40B4-BE49-F238E27FC236}">
                <a16:creationId xmlns:a16="http://schemas.microsoft.com/office/drawing/2014/main" id="{D1227C59-1983-777D-54A9-1865F6D4775C}"/>
              </a:ext>
            </a:extLst>
          </p:cNvPr>
          <p:cNvSpPr txBox="1"/>
          <p:nvPr/>
        </p:nvSpPr>
        <p:spPr>
          <a:xfrm>
            <a:off x="7760871" y="6606777"/>
            <a:ext cx="6094674" cy="251223"/>
          </a:xfrm>
          <a:prstGeom prst="rect">
            <a:avLst/>
          </a:prstGeom>
          <a:noFill/>
        </p:spPr>
        <p:txBody>
          <a:bodyPr wrap="square">
            <a:spAutoFit/>
          </a:bodyPr>
          <a:lstStyle/>
          <a:p>
            <a:pPr marL="0" indent="0" algn="ctr">
              <a:lnSpc>
                <a:spcPts val="1300"/>
              </a:lnSpc>
              <a:buNone/>
            </a:pPr>
            <a:r>
              <a:rPr lang="en-CA" sz="900" dirty="0">
                <a:solidFill>
                  <a:srgbClr val="C00000"/>
                </a:solidFill>
                <a:latin typeface="Tahoma" pitchFamily="34" charset="0"/>
                <a:ea typeface="Tahoma" pitchFamily="34" charset="-122"/>
                <a:cs typeface="Tahoma" pitchFamily="34" charset="-120"/>
              </a:rPr>
              <a:t>B</a:t>
            </a:r>
            <a:r>
              <a:rPr lang="en-US" sz="900" dirty="0">
                <a:solidFill>
                  <a:srgbClr val="C00000"/>
                </a:solidFill>
                <a:latin typeface="Tahoma" pitchFamily="34" charset="0"/>
                <a:ea typeface="Tahoma" pitchFamily="34" charset="-122"/>
                <a:cs typeface="Tahoma" pitchFamily="34" charset="-120"/>
              </a:rPr>
              <a:t>y: TAD BA TEAM</a:t>
            </a:r>
            <a:endParaRPr lang="en-US" sz="900"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114407" y="320040"/>
            <a:ext cx="1617345" cy="457200"/>
          </a:xfrm>
          <a:prstGeom prst="rect">
            <a:avLst/>
          </a:prstGeom>
        </p:spPr>
      </p:pic>
      <p:sp>
        <p:nvSpPr>
          <p:cNvPr id="3" name="Text 0"/>
          <p:cNvSpPr/>
          <p:nvPr/>
        </p:nvSpPr>
        <p:spPr>
          <a:xfrm>
            <a:off x="548640" y="384048"/>
            <a:ext cx="8229600" cy="548640"/>
          </a:xfrm>
          <a:prstGeom prst="rect">
            <a:avLst/>
          </a:prstGeom>
          <a:noFill/>
          <a:ln/>
        </p:spPr>
        <p:txBody>
          <a:bodyPr wrap="square" rtlCol="0" anchor="ctr"/>
          <a:lstStyle/>
          <a:p>
            <a:pPr marL="0" indent="0">
              <a:buNone/>
            </a:pPr>
            <a:r>
              <a:rPr lang="en-US" sz="2800" b="1" dirty="0">
                <a:solidFill>
                  <a:srgbClr val="3F464C"/>
                </a:solidFill>
                <a:latin typeface="Tahoma" pitchFamily="34" charset="0"/>
                <a:ea typeface="Tahoma" pitchFamily="34" charset="-122"/>
                <a:cs typeface="Tahoma" pitchFamily="34" charset="-120"/>
              </a:rPr>
              <a:t>CRS Flow at Glance</a:t>
            </a:r>
            <a:endParaRPr lang="en-US" sz="2800" dirty="0"/>
          </a:p>
        </p:txBody>
      </p:sp>
      <p:sp>
        <p:nvSpPr>
          <p:cNvPr id="4" name="Text 1"/>
          <p:cNvSpPr/>
          <p:nvPr/>
        </p:nvSpPr>
        <p:spPr>
          <a:xfrm>
            <a:off x="566928" y="950976"/>
            <a:ext cx="10058400" cy="365760"/>
          </a:xfrm>
          <a:prstGeom prst="rect">
            <a:avLst/>
          </a:prstGeom>
          <a:noFill/>
          <a:ln/>
        </p:spPr>
        <p:txBody>
          <a:bodyPr wrap="square" rtlCol="0" anchor="ctr"/>
          <a:lstStyle/>
          <a:p>
            <a:pPr marL="0" indent="0">
              <a:buNone/>
            </a:pPr>
            <a:r>
              <a:rPr lang="en-US" sz="1300" dirty="0">
                <a:solidFill>
                  <a:srgbClr val="6E767D"/>
                </a:solidFill>
                <a:latin typeface="Tahoma" pitchFamily="34" charset="0"/>
                <a:ea typeface="Tahoma" pitchFamily="34" charset="-122"/>
                <a:cs typeface="Tahoma" pitchFamily="34" charset="-120"/>
              </a:rPr>
              <a:t>The CRS AEOI for Competent Authority operates two mirrored exchange processes, both anchored on CTS transmission and DocRefID remediation.</a:t>
            </a:r>
            <a:endParaRPr lang="en-US" sz="1300" dirty="0"/>
          </a:p>
        </p:txBody>
      </p:sp>
      <p:sp>
        <p:nvSpPr>
          <p:cNvPr id="5" name="Shape 2"/>
          <p:cNvSpPr/>
          <p:nvPr/>
        </p:nvSpPr>
        <p:spPr>
          <a:xfrm>
            <a:off x="548640" y="1417320"/>
            <a:ext cx="1828800" cy="1920240"/>
          </a:xfrm>
          <a:prstGeom prst="roundRect">
            <a:avLst>
              <a:gd name="adj" fmla="val 5000"/>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6" name="Shape 3"/>
          <p:cNvSpPr/>
          <p:nvPr/>
        </p:nvSpPr>
        <p:spPr>
          <a:xfrm>
            <a:off x="1078992" y="1673352"/>
            <a:ext cx="768096" cy="768096"/>
          </a:xfrm>
          <a:prstGeom prst="ellipse">
            <a:avLst/>
          </a:prstGeom>
          <a:solidFill>
            <a:srgbClr val="FFFFFF">
              <a:alpha val="90000"/>
            </a:srgbClr>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1225296" y="1837944"/>
            <a:ext cx="475488" cy="475488"/>
          </a:xfrm>
          <a:prstGeom prst="rect">
            <a:avLst/>
          </a:prstGeom>
        </p:spPr>
      </p:pic>
      <p:sp>
        <p:nvSpPr>
          <p:cNvPr id="8" name="Text 4"/>
          <p:cNvSpPr/>
          <p:nvPr/>
        </p:nvSpPr>
        <p:spPr>
          <a:xfrm>
            <a:off x="594360" y="2514600"/>
            <a:ext cx="1737360" cy="731520"/>
          </a:xfrm>
          <a:prstGeom prst="rect">
            <a:avLst/>
          </a:prstGeom>
          <a:noFill/>
          <a:ln/>
        </p:spPr>
        <p:txBody>
          <a:bodyPr wrap="square" rtlCol="0" anchor="t"/>
          <a:lstStyle/>
          <a:p>
            <a:pPr marL="0" indent="0" algn="ctr">
              <a:lnSpc>
                <a:spcPts val="1600"/>
              </a:lnSpc>
              <a:buNone/>
            </a:pPr>
            <a:r>
              <a:rPr lang="en-US" sz="1400" b="1" dirty="0">
                <a:solidFill>
                  <a:srgbClr val="FFFFFF"/>
                </a:solidFill>
                <a:latin typeface="Tahoma" pitchFamily="34" charset="0"/>
                <a:ea typeface="Tahoma" pitchFamily="34" charset="-122"/>
                <a:cs typeface="Tahoma" pitchFamily="34" charset="-120"/>
              </a:rPr>
              <a:t>OUTGOING</a:t>
            </a:r>
            <a:endParaRPr lang="en-US" sz="1400" dirty="0"/>
          </a:p>
          <a:p>
            <a:pPr marL="0" indent="0" algn="ctr">
              <a:lnSpc>
                <a:spcPts val="1600"/>
              </a:lnSpc>
              <a:buNone/>
            </a:pPr>
            <a:r>
              <a:rPr lang="en-US" sz="1400" b="1" dirty="0">
                <a:solidFill>
                  <a:srgbClr val="FFFFFF"/>
                </a:solidFill>
                <a:latin typeface="Tahoma" pitchFamily="34" charset="0"/>
                <a:ea typeface="Tahoma" pitchFamily="34" charset="-122"/>
                <a:cs typeface="Tahoma" pitchFamily="34" charset="-120"/>
              </a:rPr>
              <a:t>FLOW</a:t>
            </a:r>
            <a:endParaRPr lang="en-US" sz="1400" dirty="0"/>
          </a:p>
        </p:txBody>
      </p:sp>
      <p:sp>
        <p:nvSpPr>
          <p:cNvPr id="9" name="Shape 5"/>
          <p:cNvSpPr/>
          <p:nvPr/>
        </p:nvSpPr>
        <p:spPr>
          <a:xfrm>
            <a:off x="2697480" y="1527048"/>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10" name="Shape 6"/>
          <p:cNvSpPr/>
          <p:nvPr/>
        </p:nvSpPr>
        <p:spPr>
          <a:xfrm>
            <a:off x="3236976" y="1709928"/>
            <a:ext cx="621792" cy="621792"/>
          </a:xfrm>
          <a:prstGeom prst="ellipse">
            <a:avLst/>
          </a:prstGeom>
          <a:solidFill>
            <a:srgbClr val="EEF0F2"/>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3374136" y="1847088"/>
            <a:ext cx="347472" cy="347472"/>
          </a:xfrm>
          <a:prstGeom prst="rect">
            <a:avLst/>
          </a:prstGeom>
        </p:spPr>
      </p:pic>
      <p:sp>
        <p:nvSpPr>
          <p:cNvPr id="12" name="Text 7"/>
          <p:cNvSpPr/>
          <p:nvPr/>
        </p:nvSpPr>
        <p:spPr>
          <a:xfrm>
            <a:off x="2770632" y="2404872"/>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Onboarding</a:t>
            </a:r>
            <a:endParaRPr lang="en-US" sz="1150" dirty="0"/>
          </a:p>
        </p:txBody>
      </p:sp>
      <p:sp>
        <p:nvSpPr>
          <p:cNvPr id="13" name="Text 8"/>
          <p:cNvSpPr/>
          <p:nvPr/>
        </p:nvSpPr>
        <p:spPr>
          <a:xfrm>
            <a:off x="2779776" y="2788920"/>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Register &amp; authorize RFI</a:t>
            </a:r>
            <a:endParaRPr lang="en-US" sz="850" dirty="0"/>
          </a:p>
        </p:txBody>
      </p:sp>
      <p:sp>
        <p:nvSpPr>
          <p:cNvPr id="14" name="Shape 9"/>
          <p:cNvSpPr/>
          <p:nvPr/>
        </p:nvSpPr>
        <p:spPr>
          <a:xfrm>
            <a:off x="4416552" y="2377440"/>
            <a:ext cx="73152" cy="0"/>
          </a:xfrm>
          <a:prstGeom prst="line">
            <a:avLst/>
          </a:prstGeom>
          <a:noFill/>
          <a:ln w="28575">
            <a:solidFill>
              <a:srgbClr val="C8102E"/>
            </a:solidFill>
            <a:prstDash val="solid"/>
            <a:tailEnd type="triangle"/>
          </a:ln>
        </p:spPr>
        <p:txBody>
          <a:bodyPr/>
          <a:lstStyle/>
          <a:p>
            <a:endParaRPr lang="en-US"/>
          </a:p>
        </p:txBody>
      </p:sp>
      <p:grpSp>
        <p:nvGrpSpPr>
          <p:cNvPr id="69" name="Group 68">
            <a:extLst>
              <a:ext uri="{FF2B5EF4-FFF2-40B4-BE49-F238E27FC236}">
                <a16:creationId xmlns:a16="http://schemas.microsoft.com/office/drawing/2014/main" id="{53AD0499-4C60-BEFA-3DF7-96CF7F628688}"/>
              </a:ext>
            </a:extLst>
          </p:cNvPr>
          <p:cNvGrpSpPr/>
          <p:nvPr/>
        </p:nvGrpSpPr>
        <p:grpSpPr>
          <a:xfrm>
            <a:off x="6327646" y="1527444"/>
            <a:ext cx="1646409" cy="1700784"/>
            <a:chOff x="4444376" y="1527048"/>
            <a:chExt cx="1792224" cy="1700784"/>
          </a:xfrm>
        </p:grpSpPr>
        <p:sp>
          <p:nvSpPr>
            <p:cNvPr id="20" name="Shape 14"/>
            <p:cNvSpPr/>
            <p:nvPr/>
          </p:nvSpPr>
          <p:spPr>
            <a:xfrm>
              <a:off x="6163448" y="2377440"/>
              <a:ext cx="73152" cy="0"/>
            </a:xfrm>
            <a:prstGeom prst="line">
              <a:avLst/>
            </a:prstGeom>
            <a:noFill/>
            <a:ln w="28575">
              <a:solidFill>
                <a:srgbClr val="C8102E"/>
              </a:solidFill>
              <a:prstDash val="solid"/>
              <a:tailEnd type="triangle"/>
            </a:ln>
          </p:spPr>
          <p:txBody>
            <a:bodyPr/>
            <a:lstStyle/>
            <a:p>
              <a:endParaRPr lang="en-US"/>
            </a:p>
          </p:txBody>
        </p:sp>
        <p:sp>
          <p:nvSpPr>
            <p:cNvPr id="15" name="Shape 10"/>
            <p:cNvSpPr/>
            <p:nvPr/>
          </p:nvSpPr>
          <p:spPr>
            <a:xfrm>
              <a:off x="4444376" y="1527048"/>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16" name="Shape 11"/>
            <p:cNvSpPr/>
            <p:nvPr/>
          </p:nvSpPr>
          <p:spPr>
            <a:xfrm>
              <a:off x="4983872" y="1709928"/>
              <a:ext cx="621792" cy="621792"/>
            </a:xfrm>
            <a:prstGeom prst="ellipse">
              <a:avLst/>
            </a:prstGeom>
            <a:solidFill>
              <a:srgbClr val="EEF0F2"/>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5121032" y="1847088"/>
              <a:ext cx="347472" cy="347472"/>
            </a:xfrm>
            <a:prstGeom prst="rect">
              <a:avLst/>
            </a:prstGeom>
          </p:spPr>
        </p:pic>
        <p:sp>
          <p:nvSpPr>
            <p:cNvPr id="18" name="Text 12"/>
            <p:cNvSpPr/>
            <p:nvPr/>
          </p:nvSpPr>
          <p:spPr>
            <a:xfrm>
              <a:off x="4517528" y="2404872"/>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Validation</a:t>
              </a:r>
              <a:endParaRPr lang="en-US" sz="1150" dirty="0"/>
            </a:p>
          </p:txBody>
        </p:sp>
        <p:sp>
          <p:nvSpPr>
            <p:cNvPr id="19" name="Text 13"/>
            <p:cNvSpPr/>
            <p:nvPr/>
          </p:nvSpPr>
          <p:spPr>
            <a:xfrm>
              <a:off x="4526672" y="2788920"/>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Validate CRS return</a:t>
              </a:r>
              <a:endParaRPr lang="en-US" sz="850" dirty="0"/>
            </a:p>
          </p:txBody>
        </p:sp>
      </p:grpSp>
      <p:grpSp>
        <p:nvGrpSpPr>
          <p:cNvPr id="82" name="Group 81">
            <a:extLst>
              <a:ext uri="{FF2B5EF4-FFF2-40B4-BE49-F238E27FC236}">
                <a16:creationId xmlns:a16="http://schemas.microsoft.com/office/drawing/2014/main" id="{3FB25ECD-3AC9-7696-B05E-8341159BB281}"/>
              </a:ext>
            </a:extLst>
          </p:cNvPr>
          <p:cNvGrpSpPr/>
          <p:nvPr/>
        </p:nvGrpSpPr>
        <p:grpSpPr>
          <a:xfrm>
            <a:off x="7954086" y="1523869"/>
            <a:ext cx="1661645" cy="1700784"/>
            <a:chOff x="7867242" y="3066421"/>
            <a:chExt cx="1700784" cy="1700784"/>
          </a:xfrm>
        </p:grpSpPr>
        <p:sp>
          <p:nvSpPr>
            <p:cNvPr id="77" name="Shape 15">
              <a:extLst>
                <a:ext uri="{FF2B5EF4-FFF2-40B4-BE49-F238E27FC236}">
                  <a16:creationId xmlns:a16="http://schemas.microsoft.com/office/drawing/2014/main" id="{A601BEEC-B6BE-EB51-8962-C6E1EEAFE92D}"/>
                </a:ext>
              </a:extLst>
            </p:cNvPr>
            <p:cNvSpPr/>
            <p:nvPr/>
          </p:nvSpPr>
          <p:spPr>
            <a:xfrm>
              <a:off x="7867242" y="3066421"/>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22" name="Shape 16"/>
            <p:cNvSpPr/>
            <p:nvPr/>
          </p:nvSpPr>
          <p:spPr>
            <a:xfrm>
              <a:off x="8344881" y="3268384"/>
              <a:ext cx="621792" cy="621792"/>
            </a:xfrm>
            <a:prstGeom prst="ellipse">
              <a:avLst/>
            </a:prstGeom>
            <a:solidFill>
              <a:srgbClr val="EEF0F2"/>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8482041" y="3405544"/>
              <a:ext cx="347472" cy="347472"/>
            </a:xfrm>
            <a:prstGeom prst="rect">
              <a:avLst/>
            </a:prstGeom>
          </p:spPr>
        </p:pic>
        <p:sp>
          <p:nvSpPr>
            <p:cNvPr id="24" name="Text 17"/>
            <p:cNvSpPr/>
            <p:nvPr/>
          </p:nvSpPr>
          <p:spPr>
            <a:xfrm>
              <a:off x="7878537" y="3963328"/>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Transmission</a:t>
              </a:r>
              <a:endParaRPr lang="en-US" sz="1150" dirty="0"/>
            </a:p>
          </p:txBody>
        </p:sp>
        <p:sp>
          <p:nvSpPr>
            <p:cNvPr id="25" name="Text 18"/>
            <p:cNvSpPr/>
            <p:nvPr/>
          </p:nvSpPr>
          <p:spPr>
            <a:xfrm>
              <a:off x="7887681" y="4347376"/>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Package &amp; send via CTS</a:t>
              </a:r>
              <a:endParaRPr lang="en-US" sz="850" dirty="0"/>
            </a:p>
          </p:txBody>
        </p:sp>
      </p:grpSp>
      <p:sp>
        <p:nvSpPr>
          <p:cNvPr id="27" name="Shape 20"/>
          <p:cNvSpPr/>
          <p:nvPr/>
        </p:nvSpPr>
        <p:spPr>
          <a:xfrm>
            <a:off x="9646912" y="1516312"/>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28" name="Shape 21"/>
          <p:cNvSpPr/>
          <p:nvPr/>
        </p:nvSpPr>
        <p:spPr>
          <a:xfrm>
            <a:off x="10131544" y="1781487"/>
            <a:ext cx="621792" cy="621792"/>
          </a:xfrm>
          <a:prstGeom prst="ellipse">
            <a:avLst/>
          </a:prstGeom>
          <a:solidFill>
            <a:srgbClr val="EEF0F2"/>
          </a:solidFill>
          <a:ln/>
        </p:spPr>
        <p:txBody>
          <a:bodyPr/>
          <a:lstStyle/>
          <a:p>
            <a:endParaRPr lang="en-US"/>
          </a:p>
        </p:txBody>
      </p:sp>
      <p:sp>
        <p:nvSpPr>
          <p:cNvPr id="30" name="Text 22"/>
          <p:cNvSpPr/>
          <p:nvPr/>
        </p:nvSpPr>
        <p:spPr>
          <a:xfrm>
            <a:off x="9665200" y="2476431"/>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Receipt</a:t>
            </a:r>
            <a:endParaRPr lang="en-US" sz="1150" dirty="0"/>
          </a:p>
        </p:txBody>
      </p:sp>
      <p:sp>
        <p:nvSpPr>
          <p:cNvPr id="31" name="Text 23"/>
          <p:cNvSpPr/>
          <p:nvPr/>
        </p:nvSpPr>
        <p:spPr>
          <a:xfrm>
            <a:off x="9674344" y="2860479"/>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Jurisdiction receives</a:t>
            </a:r>
            <a:endParaRPr lang="en-US" sz="850" dirty="0"/>
          </a:p>
        </p:txBody>
      </p:sp>
      <p:sp>
        <p:nvSpPr>
          <p:cNvPr id="32" name="Shape 24"/>
          <p:cNvSpPr/>
          <p:nvPr/>
        </p:nvSpPr>
        <p:spPr>
          <a:xfrm>
            <a:off x="11402560" y="2010088"/>
            <a:ext cx="731520" cy="731520"/>
          </a:xfrm>
          <a:prstGeom prst="ellipse">
            <a:avLst/>
          </a:prstGeom>
          <a:solidFill>
            <a:srgbClr val="3F464C"/>
          </a:solidFill>
          <a:ln w="31750">
            <a:solidFill>
              <a:srgbClr val="C8102E"/>
            </a:solidFill>
            <a:prstDash val="solid"/>
          </a:ln>
          <a:effectLst>
            <a:outerShdw blurRad="88900" dist="38100" dir="5400000" algn="bl" rotWithShape="0">
              <a:srgbClr val="2B3036">
                <a:alpha val="18000"/>
              </a:srgbClr>
            </a:outerShdw>
          </a:effectLst>
        </p:spPr>
        <p:txBody>
          <a:bodyPr/>
          <a:lstStyle/>
          <a:p>
            <a:endParaRPr lang="en-US"/>
          </a:p>
        </p:txBody>
      </p:sp>
      <p:pic>
        <p:nvPicPr>
          <p:cNvPr id="33" name="Image 6" descr="preencoded.png"/>
          <p:cNvPicPr>
            <a:picLocks noChangeAspect="1"/>
          </p:cNvPicPr>
          <p:nvPr/>
        </p:nvPicPr>
        <p:blipFill>
          <a:blip r:embed="rId8"/>
          <a:stretch>
            <a:fillRect/>
          </a:stretch>
        </p:blipFill>
        <p:spPr>
          <a:xfrm>
            <a:off x="11622016" y="2229544"/>
            <a:ext cx="292608" cy="292608"/>
          </a:xfrm>
          <a:prstGeom prst="rect">
            <a:avLst/>
          </a:prstGeom>
        </p:spPr>
      </p:pic>
      <p:sp>
        <p:nvSpPr>
          <p:cNvPr id="34" name="Shape 25"/>
          <p:cNvSpPr/>
          <p:nvPr/>
        </p:nvSpPr>
        <p:spPr>
          <a:xfrm>
            <a:off x="10913556" y="2366704"/>
            <a:ext cx="402336" cy="0"/>
          </a:xfrm>
          <a:prstGeom prst="line">
            <a:avLst/>
          </a:prstGeom>
          <a:noFill/>
          <a:ln w="28575">
            <a:solidFill>
              <a:srgbClr val="C8102E"/>
            </a:solidFill>
            <a:prstDash val="solid"/>
            <a:tailEnd type="triangle"/>
          </a:ln>
        </p:spPr>
        <p:txBody>
          <a:bodyPr/>
          <a:lstStyle/>
          <a:p>
            <a:endParaRPr lang="en-US"/>
          </a:p>
        </p:txBody>
      </p:sp>
      <p:sp>
        <p:nvSpPr>
          <p:cNvPr id="35" name="Shape 26"/>
          <p:cNvSpPr/>
          <p:nvPr/>
        </p:nvSpPr>
        <p:spPr>
          <a:xfrm>
            <a:off x="548640" y="3886200"/>
            <a:ext cx="1828800" cy="1920240"/>
          </a:xfrm>
          <a:prstGeom prst="roundRect">
            <a:avLst>
              <a:gd name="adj" fmla="val 5000"/>
            </a:avLst>
          </a:prstGeom>
          <a:solidFill>
            <a:srgbClr val="3F464C"/>
          </a:solidFill>
          <a:ln/>
          <a:effectLst>
            <a:outerShdw blurRad="88900" dist="38100" dir="5400000" algn="bl" rotWithShape="0">
              <a:srgbClr val="2B3036">
                <a:alpha val="18000"/>
              </a:srgbClr>
            </a:outerShdw>
          </a:effectLst>
        </p:spPr>
        <p:txBody>
          <a:bodyPr/>
          <a:lstStyle/>
          <a:p>
            <a:endParaRPr lang="en-US"/>
          </a:p>
        </p:txBody>
      </p:sp>
      <p:sp>
        <p:nvSpPr>
          <p:cNvPr id="36" name="Shape 27"/>
          <p:cNvSpPr/>
          <p:nvPr/>
        </p:nvSpPr>
        <p:spPr>
          <a:xfrm>
            <a:off x="1078992" y="4142232"/>
            <a:ext cx="768096" cy="768096"/>
          </a:xfrm>
          <a:prstGeom prst="ellipse">
            <a:avLst/>
          </a:prstGeom>
          <a:solidFill>
            <a:srgbClr val="FFFFFF">
              <a:alpha val="90000"/>
            </a:srgbClr>
          </a:solidFill>
          <a:ln/>
        </p:spPr>
        <p:txBody>
          <a:bodyPr/>
          <a:lstStyle/>
          <a:p>
            <a:endParaRPr lang="en-US"/>
          </a:p>
        </p:txBody>
      </p:sp>
      <p:pic>
        <p:nvPicPr>
          <p:cNvPr id="37" name="Image 7" descr="preencoded.png"/>
          <p:cNvPicPr>
            <a:picLocks noChangeAspect="1"/>
          </p:cNvPicPr>
          <p:nvPr/>
        </p:nvPicPr>
        <p:blipFill>
          <a:blip r:embed="rId9"/>
          <a:stretch>
            <a:fillRect/>
          </a:stretch>
        </p:blipFill>
        <p:spPr>
          <a:xfrm>
            <a:off x="1225296" y="4306824"/>
            <a:ext cx="475488" cy="475488"/>
          </a:xfrm>
          <a:prstGeom prst="rect">
            <a:avLst/>
          </a:prstGeom>
        </p:spPr>
      </p:pic>
      <p:sp>
        <p:nvSpPr>
          <p:cNvPr id="38" name="Text 28"/>
          <p:cNvSpPr/>
          <p:nvPr/>
        </p:nvSpPr>
        <p:spPr>
          <a:xfrm>
            <a:off x="594360" y="4983480"/>
            <a:ext cx="1737360" cy="731520"/>
          </a:xfrm>
          <a:prstGeom prst="rect">
            <a:avLst/>
          </a:prstGeom>
          <a:noFill/>
          <a:ln/>
        </p:spPr>
        <p:txBody>
          <a:bodyPr wrap="square" rtlCol="0" anchor="t"/>
          <a:lstStyle/>
          <a:p>
            <a:pPr marL="0" indent="0" algn="ctr">
              <a:lnSpc>
                <a:spcPts val="1600"/>
              </a:lnSpc>
              <a:buNone/>
            </a:pPr>
            <a:r>
              <a:rPr lang="en-US" sz="1400" b="1" dirty="0">
                <a:solidFill>
                  <a:srgbClr val="FFFFFF"/>
                </a:solidFill>
                <a:latin typeface="Tahoma" pitchFamily="34" charset="0"/>
                <a:ea typeface="Tahoma" pitchFamily="34" charset="-122"/>
                <a:cs typeface="Tahoma" pitchFamily="34" charset="-120"/>
              </a:rPr>
              <a:t>INCOMING</a:t>
            </a:r>
            <a:endParaRPr lang="en-US" sz="1400" dirty="0"/>
          </a:p>
          <a:p>
            <a:pPr marL="0" indent="0" algn="ctr">
              <a:lnSpc>
                <a:spcPts val="1600"/>
              </a:lnSpc>
              <a:buNone/>
            </a:pPr>
            <a:r>
              <a:rPr lang="en-US" sz="1400" b="1" dirty="0">
                <a:solidFill>
                  <a:srgbClr val="FFFFFF"/>
                </a:solidFill>
                <a:latin typeface="Tahoma" pitchFamily="34" charset="0"/>
                <a:ea typeface="Tahoma" pitchFamily="34" charset="-122"/>
                <a:cs typeface="Tahoma" pitchFamily="34" charset="-120"/>
              </a:rPr>
              <a:t>FLOW</a:t>
            </a:r>
            <a:endParaRPr lang="en-US" sz="1400" dirty="0"/>
          </a:p>
        </p:txBody>
      </p:sp>
      <p:sp>
        <p:nvSpPr>
          <p:cNvPr id="39" name="Shape 29"/>
          <p:cNvSpPr/>
          <p:nvPr/>
        </p:nvSpPr>
        <p:spPr>
          <a:xfrm>
            <a:off x="2697480" y="3995928"/>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40" name="Shape 30"/>
          <p:cNvSpPr/>
          <p:nvPr/>
        </p:nvSpPr>
        <p:spPr>
          <a:xfrm>
            <a:off x="3236976" y="4178808"/>
            <a:ext cx="621792" cy="621792"/>
          </a:xfrm>
          <a:prstGeom prst="ellipse">
            <a:avLst/>
          </a:prstGeom>
          <a:solidFill>
            <a:srgbClr val="EEF0F2"/>
          </a:solidFill>
          <a:ln/>
        </p:spPr>
        <p:txBody>
          <a:bodyPr/>
          <a:lstStyle/>
          <a:p>
            <a:endParaRPr lang="en-US"/>
          </a:p>
        </p:txBody>
      </p:sp>
      <p:pic>
        <p:nvPicPr>
          <p:cNvPr id="41" name="Image 8" descr="preencoded.png"/>
          <p:cNvPicPr>
            <a:picLocks noChangeAspect="1"/>
          </p:cNvPicPr>
          <p:nvPr/>
        </p:nvPicPr>
        <p:blipFill>
          <a:blip r:embed="rId10"/>
          <a:stretch>
            <a:fillRect/>
          </a:stretch>
        </p:blipFill>
        <p:spPr>
          <a:xfrm>
            <a:off x="3374136" y="4315968"/>
            <a:ext cx="347472" cy="347472"/>
          </a:xfrm>
          <a:prstGeom prst="rect">
            <a:avLst/>
          </a:prstGeom>
        </p:spPr>
      </p:pic>
      <p:sp>
        <p:nvSpPr>
          <p:cNvPr id="42" name="Text 31"/>
          <p:cNvSpPr/>
          <p:nvPr/>
        </p:nvSpPr>
        <p:spPr>
          <a:xfrm>
            <a:off x="2770632" y="4873752"/>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Receipt</a:t>
            </a:r>
            <a:endParaRPr lang="en-US" sz="1150" dirty="0"/>
          </a:p>
        </p:txBody>
      </p:sp>
      <p:sp>
        <p:nvSpPr>
          <p:cNvPr id="43" name="Text 32"/>
          <p:cNvSpPr/>
          <p:nvPr/>
        </p:nvSpPr>
        <p:spPr>
          <a:xfrm>
            <a:off x="2779776" y="5257800"/>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Receive via CTS</a:t>
            </a:r>
            <a:endParaRPr lang="en-US" sz="850" dirty="0"/>
          </a:p>
        </p:txBody>
      </p:sp>
      <p:sp>
        <p:nvSpPr>
          <p:cNvPr id="44" name="Shape 33"/>
          <p:cNvSpPr/>
          <p:nvPr/>
        </p:nvSpPr>
        <p:spPr>
          <a:xfrm>
            <a:off x="4416552" y="4846320"/>
            <a:ext cx="73152" cy="0"/>
          </a:xfrm>
          <a:prstGeom prst="line">
            <a:avLst/>
          </a:prstGeom>
          <a:noFill/>
          <a:ln w="28575">
            <a:solidFill>
              <a:srgbClr val="C8102E"/>
            </a:solidFill>
            <a:prstDash val="solid"/>
            <a:tailEnd type="triangle"/>
          </a:ln>
        </p:spPr>
        <p:txBody>
          <a:bodyPr/>
          <a:lstStyle/>
          <a:p>
            <a:endParaRPr lang="en-US"/>
          </a:p>
        </p:txBody>
      </p:sp>
      <p:sp>
        <p:nvSpPr>
          <p:cNvPr id="45" name="Shape 34"/>
          <p:cNvSpPr/>
          <p:nvPr/>
        </p:nvSpPr>
        <p:spPr>
          <a:xfrm>
            <a:off x="4507992" y="3995928"/>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46" name="Shape 35"/>
          <p:cNvSpPr/>
          <p:nvPr/>
        </p:nvSpPr>
        <p:spPr>
          <a:xfrm>
            <a:off x="5047488" y="4178808"/>
            <a:ext cx="621792" cy="621792"/>
          </a:xfrm>
          <a:prstGeom prst="ellipse">
            <a:avLst/>
          </a:prstGeom>
          <a:solidFill>
            <a:srgbClr val="EEF0F2"/>
          </a:solidFill>
          <a:ln/>
        </p:spPr>
        <p:txBody>
          <a:bodyPr/>
          <a:lstStyle/>
          <a:p>
            <a:endParaRPr lang="en-US"/>
          </a:p>
        </p:txBody>
      </p:sp>
      <p:pic>
        <p:nvPicPr>
          <p:cNvPr id="47" name="Image 9" descr="preencoded.png"/>
          <p:cNvPicPr>
            <a:picLocks noChangeAspect="1"/>
          </p:cNvPicPr>
          <p:nvPr/>
        </p:nvPicPr>
        <p:blipFill>
          <a:blip r:embed="rId6"/>
          <a:stretch>
            <a:fillRect/>
          </a:stretch>
        </p:blipFill>
        <p:spPr>
          <a:xfrm>
            <a:off x="5184648" y="4315968"/>
            <a:ext cx="347472" cy="347472"/>
          </a:xfrm>
          <a:prstGeom prst="rect">
            <a:avLst/>
          </a:prstGeom>
        </p:spPr>
      </p:pic>
      <p:sp>
        <p:nvSpPr>
          <p:cNvPr id="48" name="Text 36"/>
          <p:cNvSpPr/>
          <p:nvPr/>
        </p:nvSpPr>
        <p:spPr>
          <a:xfrm>
            <a:off x="4581144" y="4873752"/>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Validation</a:t>
            </a:r>
            <a:endParaRPr lang="en-US" sz="1150" dirty="0"/>
          </a:p>
        </p:txBody>
      </p:sp>
      <p:sp>
        <p:nvSpPr>
          <p:cNvPr id="49" name="Text 37"/>
          <p:cNvSpPr/>
          <p:nvPr/>
        </p:nvSpPr>
        <p:spPr>
          <a:xfrm>
            <a:off x="4590288" y="5257800"/>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Quality checks</a:t>
            </a:r>
            <a:endParaRPr lang="en-US" sz="850" dirty="0"/>
          </a:p>
        </p:txBody>
      </p:sp>
      <p:sp>
        <p:nvSpPr>
          <p:cNvPr id="50" name="Shape 38"/>
          <p:cNvSpPr/>
          <p:nvPr/>
        </p:nvSpPr>
        <p:spPr>
          <a:xfrm>
            <a:off x="6227064" y="4846320"/>
            <a:ext cx="73152" cy="0"/>
          </a:xfrm>
          <a:prstGeom prst="line">
            <a:avLst/>
          </a:prstGeom>
          <a:noFill/>
          <a:ln w="28575">
            <a:solidFill>
              <a:srgbClr val="C8102E"/>
            </a:solidFill>
            <a:prstDash val="solid"/>
            <a:tailEnd type="triangle"/>
          </a:ln>
        </p:spPr>
        <p:txBody>
          <a:bodyPr/>
          <a:lstStyle/>
          <a:p>
            <a:endParaRPr lang="en-US"/>
          </a:p>
        </p:txBody>
      </p:sp>
      <p:sp>
        <p:nvSpPr>
          <p:cNvPr id="51" name="Shape 39"/>
          <p:cNvSpPr/>
          <p:nvPr/>
        </p:nvSpPr>
        <p:spPr>
          <a:xfrm>
            <a:off x="6318504" y="3995928"/>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52" name="Shape 40"/>
          <p:cNvSpPr/>
          <p:nvPr/>
        </p:nvSpPr>
        <p:spPr>
          <a:xfrm>
            <a:off x="6858000" y="4178808"/>
            <a:ext cx="621792" cy="621792"/>
          </a:xfrm>
          <a:prstGeom prst="ellipse">
            <a:avLst/>
          </a:prstGeom>
          <a:solidFill>
            <a:srgbClr val="EEF0F2"/>
          </a:solidFill>
          <a:ln/>
        </p:spPr>
        <p:txBody>
          <a:bodyPr/>
          <a:lstStyle/>
          <a:p>
            <a:endParaRPr lang="en-US"/>
          </a:p>
        </p:txBody>
      </p:sp>
      <p:pic>
        <p:nvPicPr>
          <p:cNvPr id="53" name="Image 10" descr="preencoded.png"/>
          <p:cNvPicPr>
            <a:picLocks noChangeAspect="1"/>
          </p:cNvPicPr>
          <p:nvPr/>
        </p:nvPicPr>
        <p:blipFill>
          <a:blip r:embed="rId11"/>
          <a:stretch>
            <a:fillRect/>
          </a:stretch>
        </p:blipFill>
        <p:spPr>
          <a:xfrm>
            <a:off x="6995160" y="4315968"/>
            <a:ext cx="347472" cy="347472"/>
          </a:xfrm>
          <a:prstGeom prst="rect">
            <a:avLst/>
          </a:prstGeom>
        </p:spPr>
      </p:pic>
      <p:sp>
        <p:nvSpPr>
          <p:cNvPr id="54" name="Text 41"/>
          <p:cNvSpPr/>
          <p:nvPr/>
        </p:nvSpPr>
        <p:spPr>
          <a:xfrm>
            <a:off x="6391656" y="4873752"/>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Remediation</a:t>
            </a:r>
            <a:endParaRPr lang="en-US" sz="1150" dirty="0"/>
          </a:p>
        </p:txBody>
      </p:sp>
      <p:sp>
        <p:nvSpPr>
          <p:cNvPr id="55" name="Text 42"/>
          <p:cNvSpPr/>
          <p:nvPr/>
        </p:nvSpPr>
        <p:spPr>
          <a:xfrm>
            <a:off x="6400800" y="5257800"/>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DocRefID amend loop</a:t>
            </a:r>
            <a:endParaRPr lang="en-US" sz="850" dirty="0"/>
          </a:p>
        </p:txBody>
      </p:sp>
      <p:sp>
        <p:nvSpPr>
          <p:cNvPr id="56" name="Shape 43"/>
          <p:cNvSpPr/>
          <p:nvPr/>
        </p:nvSpPr>
        <p:spPr>
          <a:xfrm>
            <a:off x="8037576" y="4846320"/>
            <a:ext cx="73152" cy="0"/>
          </a:xfrm>
          <a:prstGeom prst="line">
            <a:avLst/>
          </a:prstGeom>
          <a:noFill/>
          <a:ln w="28575">
            <a:solidFill>
              <a:srgbClr val="C8102E"/>
            </a:solidFill>
            <a:prstDash val="solid"/>
            <a:tailEnd type="triangle"/>
          </a:ln>
        </p:spPr>
        <p:txBody>
          <a:bodyPr/>
          <a:lstStyle/>
          <a:p>
            <a:endParaRPr lang="en-US"/>
          </a:p>
        </p:txBody>
      </p:sp>
      <p:sp>
        <p:nvSpPr>
          <p:cNvPr id="57" name="Shape 44"/>
          <p:cNvSpPr/>
          <p:nvPr/>
        </p:nvSpPr>
        <p:spPr>
          <a:xfrm>
            <a:off x="8129016" y="3995928"/>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58" name="Shape 45"/>
          <p:cNvSpPr/>
          <p:nvPr/>
        </p:nvSpPr>
        <p:spPr>
          <a:xfrm>
            <a:off x="8668512" y="4178808"/>
            <a:ext cx="621792" cy="621792"/>
          </a:xfrm>
          <a:prstGeom prst="ellipse">
            <a:avLst/>
          </a:prstGeom>
          <a:solidFill>
            <a:srgbClr val="EEF0F2"/>
          </a:solidFill>
          <a:ln/>
        </p:spPr>
        <p:txBody>
          <a:bodyPr/>
          <a:lstStyle/>
          <a:p>
            <a:endParaRPr lang="en-US"/>
          </a:p>
        </p:txBody>
      </p:sp>
      <p:pic>
        <p:nvPicPr>
          <p:cNvPr id="59" name="Image 11" descr="preencoded.png"/>
          <p:cNvPicPr>
            <a:picLocks noChangeAspect="1"/>
          </p:cNvPicPr>
          <p:nvPr/>
        </p:nvPicPr>
        <p:blipFill>
          <a:blip r:embed="rId12"/>
          <a:stretch>
            <a:fillRect/>
          </a:stretch>
        </p:blipFill>
        <p:spPr>
          <a:xfrm>
            <a:off x="8805672" y="4315968"/>
            <a:ext cx="347472" cy="347472"/>
          </a:xfrm>
          <a:prstGeom prst="rect">
            <a:avLst/>
          </a:prstGeom>
        </p:spPr>
      </p:pic>
      <p:sp>
        <p:nvSpPr>
          <p:cNvPr id="60" name="Text 46"/>
          <p:cNvSpPr/>
          <p:nvPr/>
        </p:nvSpPr>
        <p:spPr>
          <a:xfrm>
            <a:off x="8202168" y="4873752"/>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Distribution</a:t>
            </a:r>
            <a:endParaRPr lang="en-US" sz="1150" dirty="0"/>
          </a:p>
        </p:txBody>
      </p:sp>
      <p:sp>
        <p:nvSpPr>
          <p:cNvPr id="61" name="Text 47"/>
          <p:cNvSpPr/>
          <p:nvPr/>
        </p:nvSpPr>
        <p:spPr>
          <a:xfrm>
            <a:off x="8211312" y="5257800"/>
            <a:ext cx="1536192" cy="384048"/>
          </a:xfrm>
          <a:prstGeom prst="rect">
            <a:avLst/>
          </a:prstGeom>
          <a:noFill/>
          <a:ln/>
        </p:spPr>
        <p:txBody>
          <a:bodyPr wrap="square" rtlCol="0" anchor="ctr"/>
          <a:lstStyle/>
          <a:p>
            <a:pPr marL="0" indent="0" algn="ctr">
              <a:lnSpc>
                <a:spcPts val="1000"/>
              </a:lnSpc>
              <a:buNone/>
            </a:pPr>
            <a:r>
              <a:rPr lang="en-US" sz="850" dirty="0">
                <a:solidFill>
                  <a:srgbClr val="6E767D"/>
                </a:solidFill>
                <a:latin typeface="Tahoma" pitchFamily="34" charset="0"/>
                <a:ea typeface="Tahoma" pitchFamily="34" charset="-122"/>
                <a:cs typeface="Tahoma" pitchFamily="34" charset="-120"/>
              </a:rPr>
              <a:t>To tax authorities</a:t>
            </a:r>
            <a:endParaRPr lang="en-US" sz="850" dirty="0"/>
          </a:p>
        </p:txBody>
      </p:sp>
      <p:sp>
        <p:nvSpPr>
          <p:cNvPr id="62" name="Shape 48"/>
          <p:cNvSpPr/>
          <p:nvPr/>
        </p:nvSpPr>
        <p:spPr>
          <a:xfrm>
            <a:off x="9884664" y="4489704"/>
            <a:ext cx="731520" cy="731520"/>
          </a:xfrm>
          <a:prstGeom prst="ellipse">
            <a:avLst/>
          </a:prstGeom>
          <a:solidFill>
            <a:srgbClr val="3F464C"/>
          </a:solidFill>
          <a:ln w="31750">
            <a:solidFill>
              <a:srgbClr val="C8102E"/>
            </a:solidFill>
            <a:prstDash val="solid"/>
          </a:ln>
          <a:effectLst>
            <a:outerShdw blurRad="88900" dist="38100" dir="5400000" algn="bl" rotWithShape="0">
              <a:srgbClr val="2B3036">
                <a:alpha val="18000"/>
              </a:srgbClr>
            </a:outerShdw>
          </a:effectLst>
        </p:spPr>
        <p:txBody>
          <a:bodyPr/>
          <a:lstStyle/>
          <a:p>
            <a:endParaRPr lang="en-US"/>
          </a:p>
        </p:txBody>
      </p:sp>
      <p:pic>
        <p:nvPicPr>
          <p:cNvPr id="63" name="Image 12" descr="preencoded.png"/>
          <p:cNvPicPr>
            <a:picLocks noChangeAspect="1"/>
          </p:cNvPicPr>
          <p:nvPr/>
        </p:nvPicPr>
        <p:blipFill>
          <a:blip r:embed="rId8"/>
          <a:stretch>
            <a:fillRect/>
          </a:stretch>
        </p:blipFill>
        <p:spPr>
          <a:xfrm>
            <a:off x="10104120" y="4709160"/>
            <a:ext cx="292608" cy="292608"/>
          </a:xfrm>
          <a:prstGeom prst="rect">
            <a:avLst/>
          </a:prstGeom>
        </p:spPr>
      </p:pic>
      <p:sp>
        <p:nvSpPr>
          <p:cNvPr id="64" name="Shape 49"/>
          <p:cNvSpPr/>
          <p:nvPr/>
        </p:nvSpPr>
        <p:spPr>
          <a:xfrm>
            <a:off x="9427464" y="4846320"/>
            <a:ext cx="402336" cy="0"/>
          </a:xfrm>
          <a:prstGeom prst="line">
            <a:avLst/>
          </a:prstGeom>
          <a:noFill/>
          <a:ln w="28575">
            <a:solidFill>
              <a:srgbClr val="C8102E"/>
            </a:solidFill>
            <a:prstDash val="solid"/>
            <a:tailEnd type="triangle"/>
          </a:ln>
        </p:spPr>
        <p:txBody>
          <a:bodyPr/>
          <a:lstStyle/>
          <a:p>
            <a:endParaRPr lang="en-US"/>
          </a:p>
        </p:txBody>
      </p:sp>
      <p:sp>
        <p:nvSpPr>
          <p:cNvPr id="65" name="Shape 50"/>
          <p:cNvSpPr/>
          <p:nvPr/>
        </p:nvSpPr>
        <p:spPr>
          <a:xfrm>
            <a:off x="548640" y="5989320"/>
            <a:ext cx="11064240" cy="548640"/>
          </a:xfrm>
          <a:prstGeom prst="roundRect">
            <a:avLst>
              <a:gd name="adj" fmla="val 13333"/>
            </a:avLst>
          </a:prstGeom>
          <a:solidFill>
            <a:srgbClr val="EEF0F2"/>
          </a:solidFill>
          <a:ln/>
        </p:spPr>
        <p:txBody>
          <a:bodyPr/>
          <a:lstStyle/>
          <a:p>
            <a:endParaRPr lang="en-US"/>
          </a:p>
        </p:txBody>
      </p:sp>
      <p:sp>
        <p:nvSpPr>
          <p:cNvPr id="66" name="Text 51"/>
          <p:cNvSpPr/>
          <p:nvPr/>
        </p:nvSpPr>
        <p:spPr>
          <a:xfrm>
            <a:off x="777240" y="5989320"/>
            <a:ext cx="10607040" cy="548640"/>
          </a:xfrm>
          <a:prstGeom prst="rect">
            <a:avLst/>
          </a:prstGeom>
          <a:noFill/>
          <a:ln/>
        </p:spPr>
        <p:txBody>
          <a:bodyPr wrap="square" rtlCol="0" anchor="ctr"/>
          <a:lstStyle/>
          <a:p>
            <a:pPr marL="0" indent="0">
              <a:buNone/>
            </a:pPr>
            <a:r>
              <a:rPr lang="en-US" sz="1100" b="1" dirty="0">
                <a:solidFill>
                  <a:srgbClr val="C8102E"/>
                </a:solidFill>
                <a:latin typeface="Tahoma" pitchFamily="34" charset="0"/>
                <a:ea typeface="Tahoma" pitchFamily="34" charset="-122"/>
                <a:cs typeface="Tahoma" pitchFamily="34" charset="-120"/>
              </a:rPr>
              <a:t>Shared elements:  </a:t>
            </a:r>
            <a:r>
              <a:rPr lang="en-US" sz="1100" dirty="0">
                <a:solidFill>
                  <a:srgbClr val="3F464C"/>
                </a:solidFill>
                <a:latin typeface="Tahoma" pitchFamily="34" charset="0"/>
                <a:ea typeface="Tahoma" pitchFamily="34" charset="-122"/>
                <a:cs typeface="Tahoma" pitchFamily="34" charset="-120"/>
              </a:rPr>
              <a:t>Common Transmission System (CTS)   ·   OECD CRS schema validation   ·   DocRefID correction loop   ·   Exclusive (XOR) validation gateway</a:t>
            </a:r>
            <a:endParaRPr lang="en-US" sz="1100" dirty="0"/>
          </a:p>
        </p:txBody>
      </p:sp>
      <p:pic>
        <p:nvPicPr>
          <p:cNvPr id="29" name="Image 5" descr="preencoded.png"/>
          <p:cNvPicPr>
            <a:picLocks noChangeAspect="1"/>
          </p:cNvPicPr>
          <p:nvPr/>
        </p:nvPicPr>
        <p:blipFill>
          <a:blip r:embed="rId13">
            <a:duotone>
              <a:prstClr val="black"/>
              <a:srgbClr val="C00000">
                <a:tint val="45000"/>
                <a:satMod val="400000"/>
              </a:srgbClr>
            </a:duotone>
          </a:blip>
          <a:stretch>
            <a:fillRect/>
          </a:stretch>
        </p:blipFill>
        <p:spPr>
          <a:xfrm>
            <a:off x="10271897" y="1918647"/>
            <a:ext cx="347472" cy="347472"/>
          </a:xfrm>
          <a:prstGeom prst="rect">
            <a:avLst/>
          </a:prstGeom>
        </p:spPr>
      </p:pic>
      <p:grpSp>
        <p:nvGrpSpPr>
          <p:cNvPr id="70" name="Group 69">
            <a:extLst>
              <a:ext uri="{FF2B5EF4-FFF2-40B4-BE49-F238E27FC236}">
                <a16:creationId xmlns:a16="http://schemas.microsoft.com/office/drawing/2014/main" id="{604CEF48-7ED8-318F-AD70-42F1C1AEB842}"/>
              </a:ext>
            </a:extLst>
          </p:cNvPr>
          <p:cNvGrpSpPr/>
          <p:nvPr/>
        </p:nvGrpSpPr>
        <p:grpSpPr>
          <a:xfrm>
            <a:off x="4532010" y="1531420"/>
            <a:ext cx="1792224" cy="1700784"/>
            <a:chOff x="4444376" y="1527048"/>
            <a:chExt cx="1792224" cy="1700784"/>
          </a:xfrm>
        </p:grpSpPr>
        <p:sp>
          <p:nvSpPr>
            <p:cNvPr id="71" name="Shape 14">
              <a:extLst>
                <a:ext uri="{FF2B5EF4-FFF2-40B4-BE49-F238E27FC236}">
                  <a16:creationId xmlns:a16="http://schemas.microsoft.com/office/drawing/2014/main" id="{A06BA44C-8112-82FB-F120-4D1F17D0C6A4}"/>
                </a:ext>
              </a:extLst>
            </p:cNvPr>
            <p:cNvSpPr/>
            <p:nvPr/>
          </p:nvSpPr>
          <p:spPr>
            <a:xfrm>
              <a:off x="6163448" y="2377440"/>
              <a:ext cx="73152" cy="0"/>
            </a:xfrm>
            <a:prstGeom prst="line">
              <a:avLst/>
            </a:prstGeom>
            <a:noFill/>
            <a:ln w="28575">
              <a:solidFill>
                <a:srgbClr val="C8102E"/>
              </a:solidFill>
              <a:prstDash val="solid"/>
              <a:tailEnd type="triangle"/>
            </a:ln>
          </p:spPr>
          <p:txBody>
            <a:bodyPr/>
            <a:lstStyle/>
            <a:p>
              <a:endParaRPr lang="en-US"/>
            </a:p>
          </p:txBody>
        </p:sp>
        <p:sp>
          <p:nvSpPr>
            <p:cNvPr id="72" name="Shape 10">
              <a:extLst>
                <a:ext uri="{FF2B5EF4-FFF2-40B4-BE49-F238E27FC236}">
                  <a16:creationId xmlns:a16="http://schemas.microsoft.com/office/drawing/2014/main" id="{365E8343-3B7B-57D4-6E69-2253D99FDF59}"/>
                </a:ext>
              </a:extLst>
            </p:cNvPr>
            <p:cNvSpPr/>
            <p:nvPr/>
          </p:nvSpPr>
          <p:spPr>
            <a:xfrm>
              <a:off x="4444376" y="1527048"/>
              <a:ext cx="1700784" cy="1700784"/>
            </a:xfrm>
            <a:prstGeom prst="roundRect">
              <a:avLst>
                <a:gd name="adj" fmla="val 4839"/>
              </a:avLst>
            </a:prstGeom>
            <a:solidFill>
              <a:srgbClr val="FFFFFF"/>
            </a:solidFill>
            <a:ln/>
            <a:effectLst>
              <a:outerShdw blurRad="88900" dist="38100" dir="5400000" algn="bl" rotWithShape="0">
                <a:srgbClr val="2B3036">
                  <a:alpha val="18000"/>
                </a:srgbClr>
              </a:outerShdw>
            </a:effectLst>
          </p:spPr>
          <p:txBody>
            <a:bodyPr/>
            <a:lstStyle/>
            <a:p>
              <a:endParaRPr lang="en-US"/>
            </a:p>
          </p:txBody>
        </p:sp>
        <p:sp>
          <p:nvSpPr>
            <p:cNvPr id="73" name="Shape 11">
              <a:extLst>
                <a:ext uri="{FF2B5EF4-FFF2-40B4-BE49-F238E27FC236}">
                  <a16:creationId xmlns:a16="http://schemas.microsoft.com/office/drawing/2014/main" id="{C9D7BF91-2720-3628-CFA4-6F7FF6BC0E40}"/>
                </a:ext>
              </a:extLst>
            </p:cNvPr>
            <p:cNvSpPr/>
            <p:nvPr/>
          </p:nvSpPr>
          <p:spPr>
            <a:xfrm>
              <a:off x="4983872" y="1709928"/>
              <a:ext cx="621792" cy="621792"/>
            </a:xfrm>
            <a:prstGeom prst="ellipse">
              <a:avLst/>
            </a:prstGeom>
            <a:solidFill>
              <a:srgbClr val="EEF0F2"/>
            </a:solidFill>
            <a:ln/>
          </p:spPr>
          <p:txBody>
            <a:bodyPr/>
            <a:lstStyle/>
            <a:p>
              <a:endParaRPr lang="en-US"/>
            </a:p>
          </p:txBody>
        </p:sp>
        <p:pic>
          <p:nvPicPr>
            <p:cNvPr id="74" name="Image 3" descr="preencoded.png">
              <a:extLst>
                <a:ext uri="{FF2B5EF4-FFF2-40B4-BE49-F238E27FC236}">
                  <a16:creationId xmlns:a16="http://schemas.microsoft.com/office/drawing/2014/main" id="{98E724FD-A157-7ADF-9DE4-180805F8CC01}"/>
                </a:ext>
              </a:extLst>
            </p:cNvPr>
            <p:cNvPicPr>
              <a:picLocks noChangeAspect="1"/>
            </p:cNvPicPr>
            <p:nvPr/>
          </p:nvPicPr>
          <p:blipFill>
            <a:blip r:embed="rId6"/>
            <a:stretch>
              <a:fillRect/>
            </a:stretch>
          </p:blipFill>
          <p:spPr>
            <a:xfrm>
              <a:off x="5121032" y="1847088"/>
              <a:ext cx="347472" cy="347472"/>
            </a:xfrm>
            <a:prstGeom prst="rect">
              <a:avLst/>
            </a:prstGeom>
          </p:spPr>
        </p:pic>
        <p:sp>
          <p:nvSpPr>
            <p:cNvPr id="75" name="Text 12">
              <a:extLst>
                <a:ext uri="{FF2B5EF4-FFF2-40B4-BE49-F238E27FC236}">
                  <a16:creationId xmlns:a16="http://schemas.microsoft.com/office/drawing/2014/main" id="{28BE367B-44A3-467C-C3FF-6E29B871CED0}"/>
                </a:ext>
              </a:extLst>
            </p:cNvPr>
            <p:cNvSpPr/>
            <p:nvPr/>
          </p:nvSpPr>
          <p:spPr>
            <a:xfrm>
              <a:off x="4517528" y="2404872"/>
              <a:ext cx="1554480" cy="402336"/>
            </a:xfrm>
            <a:prstGeom prst="rect">
              <a:avLst/>
            </a:prstGeom>
            <a:noFill/>
            <a:ln/>
          </p:spPr>
          <p:txBody>
            <a:bodyPr wrap="square" rtlCol="0" anchor="t"/>
            <a:lstStyle/>
            <a:p>
              <a:pPr marL="0" indent="0" algn="ctr">
                <a:lnSpc>
                  <a:spcPts val="1300"/>
                </a:lnSpc>
                <a:buNone/>
              </a:pPr>
              <a:r>
                <a:rPr lang="en-US" sz="1150" b="1" dirty="0">
                  <a:solidFill>
                    <a:srgbClr val="3F464C"/>
                  </a:solidFill>
                  <a:latin typeface="Tahoma" pitchFamily="34" charset="0"/>
                  <a:ea typeface="Tahoma" pitchFamily="34" charset="-122"/>
                  <a:cs typeface="Tahoma" pitchFamily="34" charset="-120"/>
                </a:rPr>
                <a:t>File</a:t>
              </a:r>
              <a:endParaRPr lang="en-US" sz="1150" dirty="0"/>
            </a:p>
          </p:txBody>
        </p:sp>
        <p:sp>
          <p:nvSpPr>
            <p:cNvPr id="76" name="Text 13">
              <a:extLst>
                <a:ext uri="{FF2B5EF4-FFF2-40B4-BE49-F238E27FC236}">
                  <a16:creationId xmlns:a16="http://schemas.microsoft.com/office/drawing/2014/main" id="{855684EA-E714-7ADA-7489-E8B2F9BCF42B}"/>
                </a:ext>
              </a:extLst>
            </p:cNvPr>
            <p:cNvSpPr/>
            <p:nvPr/>
          </p:nvSpPr>
          <p:spPr>
            <a:xfrm>
              <a:off x="4526672" y="2788920"/>
              <a:ext cx="1536192" cy="384048"/>
            </a:xfrm>
            <a:prstGeom prst="rect">
              <a:avLst/>
            </a:prstGeom>
            <a:noFill/>
            <a:ln/>
          </p:spPr>
          <p:txBody>
            <a:bodyPr wrap="square" rtlCol="0" anchor="ctr"/>
            <a:lstStyle/>
            <a:p>
              <a:pPr algn="ctr">
                <a:lnSpc>
                  <a:spcPts val="1050"/>
                </a:lnSpc>
              </a:pPr>
              <a:r>
                <a:rPr lang="en-US" sz="800" dirty="0">
                  <a:solidFill>
                    <a:schemeClr val="tx1">
                      <a:lumMod val="50000"/>
                      <a:lumOff val="50000"/>
                    </a:schemeClr>
                  </a:solidFill>
                  <a:latin typeface="Tahoma" pitchFamily="34" charset="0"/>
                  <a:ea typeface="Tahoma" pitchFamily="34" charset="-122"/>
                  <a:cs typeface="Tahoma" pitchFamily="34" charset="-120"/>
                </a:rPr>
                <a:t>Submit CRS</a:t>
              </a:r>
              <a:endParaRPr lang="en-US" sz="800" dirty="0">
                <a:solidFill>
                  <a:schemeClr val="tx1">
                    <a:lumMod val="50000"/>
                    <a:lumOff val="50000"/>
                  </a:schemeClr>
                </a:solidFill>
              </a:endParaRPr>
            </a:p>
            <a:p>
              <a:pPr algn="ctr">
                <a:lnSpc>
                  <a:spcPts val="1050"/>
                </a:lnSpc>
              </a:pPr>
              <a:r>
                <a:rPr lang="en-US" sz="800" dirty="0">
                  <a:solidFill>
                    <a:schemeClr val="tx1">
                      <a:lumMod val="50000"/>
                      <a:lumOff val="50000"/>
                    </a:schemeClr>
                  </a:solidFill>
                  <a:latin typeface="Tahoma" pitchFamily="34" charset="0"/>
                  <a:ea typeface="Tahoma" pitchFamily="34" charset="-122"/>
                  <a:cs typeface="Tahoma" pitchFamily="34" charset="-120"/>
                </a:rPr>
                <a:t>Data Return</a:t>
              </a:r>
              <a:endParaRPr lang="en-US" sz="800" dirty="0">
                <a:solidFill>
                  <a:schemeClr val="tx1">
                    <a:lumMod val="50000"/>
                    <a:lumOff val="50000"/>
                  </a:schemeClr>
                </a:solidFill>
              </a:endParaRPr>
            </a:p>
          </p:txBody>
        </p:sp>
      </p:grpSp>
      <p:sp>
        <p:nvSpPr>
          <p:cNvPr id="81" name="TextBox 80">
            <a:extLst>
              <a:ext uri="{FF2B5EF4-FFF2-40B4-BE49-F238E27FC236}">
                <a16:creationId xmlns:a16="http://schemas.microsoft.com/office/drawing/2014/main" id="{CF298D3E-2179-EBCF-CDBB-65E5978006E8}"/>
              </a:ext>
            </a:extLst>
          </p:cNvPr>
          <p:cNvSpPr txBox="1"/>
          <p:nvPr/>
        </p:nvSpPr>
        <p:spPr>
          <a:xfrm>
            <a:off x="11291639" y="3882822"/>
            <a:ext cx="221841" cy="369332"/>
          </a:xfrm>
          <a:prstGeom prst="rect">
            <a:avLst/>
          </a:prstGeom>
          <a:noFill/>
        </p:spPr>
        <p:txBody>
          <a:bodyPr wrap="square">
            <a:spAutoFit/>
          </a:bodyPr>
          <a:lstStyle/>
          <a:p>
            <a:r>
              <a:rPr lang="en-US" b="0" i="0" dirty="0">
                <a:solidFill>
                  <a:srgbClr val="000000"/>
                </a:solidFill>
                <a:effectLst/>
                <a:latin typeface="Roboto" panose="02000000000000000000" pitchFamily="2" charset="0"/>
              </a:rPr>
              <a:t>📁</a:t>
            </a:r>
            <a:endParaRPr lang="en-US" dirty="0"/>
          </a:p>
        </p:txBody>
      </p:sp>
      <p:sp>
        <p:nvSpPr>
          <p:cNvPr id="26" name="Shape 19"/>
          <p:cNvSpPr/>
          <p:nvPr/>
        </p:nvSpPr>
        <p:spPr>
          <a:xfrm>
            <a:off x="9651686" y="2377440"/>
            <a:ext cx="73152" cy="0"/>
          </a:xfrm>
          <a:prstGeom prst="line">
            <a:avLst/>
          </a:prstGeom>
          <a:noFill/>
          <a:ln w="28575">
            <a:solidFill>
              <a:srgbClr val="C8102E"/>
            </a:solidFill>
            <a:prstDash val="solid"/>
            <a:tailEnd type="triangle"/>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114407" y="320040"/>
            <a:ext cx="1617345" cy="457200"/>
          </a:xfrm>
          <a:prstGeom prst="rect">
            <a:avLst/>
          </a:prstGeom>
        </p:spPr>
      </p:pic>
      <p:sp>
        <p:nvSpPr>
          <p:cNvPr id="3" name="Text 0"/>
          <p:cNvSpPr/>
          <p:nvPr/>
        </p:nvSpPr>
        <p:spPr>
          <a:xfrm>
            <a:off x="457200" y="256032"/>
            <a:ext cx="8686800" cy="457200"/>
          </a:xfrm>
          <a:prstGeom prst="rect">
            <a:avLst/>
          </a:prstGeom>
          <a:noFill/>
          <a:ln/>
        </p:spPr>
        <p:txBody>
          <a:bodyPr wrap="square" rtlCol="0" anchor="ctr"/>
          <a:lstStyle/>
          <a:p>
            <a:pPr marL="0" indent="0">
              <a:buNone/>
            </a:pPr>
            <a:r>
              <a:rPr lang="en-US" sz="2400" b="1" dirty="0">
                <a:solidFill>
                  <a:srgbClr val="3F464C"/>
                </a:solidFill>
                <a:latin typeface="Tahoma" pitchFamily="34" charset="0"/>
                <a:ea typeface="Tahoma" pitchFamily="34" charset="-122"/>
                <a:cs typeface="Tahoma" pitchFamily="34" charset="-120"/>
              </a:rPr>
              <a:t>Outgoing Flow: End-to-End BPMN </a:t>
            </a:r>
            <a:endParaRPr lang="en-US" sz="2400" dirty="0"/>
          </a:p>
        </p:txBody>
      </p:sp>
      <p:sp>
        <p:nvSpPr>
          <p:cNvPr id="4" name="Text 1"/>
          <p:cNvSpPr/>
          <p:nvPr/>
        </p:nvSpPr>
        <p:spPr>
          <a:xfrm>
            <a:off x="475488" y="749808"/>
            <a:ext cx="10058400" cy="292608"/>
          </a:xfrm>
          <a:prstGeom prst="rect">
            <a:avLst/>
          </a:prstGeom>
          <a:noFill/>
          <a:ln/>
        </p:spPr>
        <p:txBody>
          <a:bodyPr wrap="square" rtlCol="0" anchor="ctr"/>
          <a:lstStyle/>
          <a:p>
            <a:pPr marL="0" indent="0">
              <a:buNone/>
            </a:pPr>
            <a:r>
              <a:rPr lang="en-US" sz="1200" dirty="0">
                <a:solidFill>
                  <a:srgbClr val="6E767D"/>
                </a:solidFill>
                <a:latin typeface="Tahoma" pitchFamily="34" charset="0"/>
                <a:ea typeface="Tahoma" pitchFamily="34" charset="-122"/>
                <a:cs typeface="Tahoma" pitchFamily="34" charset="-120"/>
              </a:rPr>
              <a:t>RFI onboarding and CRS data submission through validation to transmission to participating jurisdictions.</a:t>
            </a:r>
            <a:endParaRPr lang="en-US" sz="1200" dirty="0"/>
          </a:p>
        </p:txBody>
      </p:sp>
      <p:sp>
        <p:nvSpPr>
          <p:cNvPr id="5" name="Shape 2"/>
          <p:cNvSpPr/>
          <p:nvPr/>
        </p:nvSpPr>
        <p:spPr>
          <a:xfrm>
            <a:off x="1691640" y="1170432"/>
            <a:ext cx="11384280" cy="2103120"/>
          </a:xfrm>
          <a:prstGeom prst="roundRect">
            <a:avLst>
              <a:gd name="adj" fmla="val 2609"/>
            </a:avLst>
          </a:prstGeom>
          <a:solidFill>
            <a:srgbClr val="FFFFFF"/>
          </a:solidFill>
          <a:ln/>
        </p:spPr>
        <p:txBody>
          <a:bodyPr/>
          <a:lstStyle/>
          <a:p>
            <a:endParaRPr lang="en-US"/>
          </a:p>
        </p:txBody>
      </p:sp>
      <p:sp>
        <p:nvSpPr>
          <p:cNvPr id="6" name="Shape 3"/>
          <p:cNvSpPr/>
          <p:nvPr/>
        </p:nvSpPr>
        <p:spPr>
          <a:xfrm>
            <a:off x="457200" y="1170432"/>
            <a:ext cx="1188720" cy="2103120"/>
          </a:xfrm>
          <a:prstGeom prst="roundRect">
            <a:avLst>
              <a:gd name="adj" fmla="val 4615"/>
            </a:avLst>
          </a:prstGeom>
          <a:solidFill>
            <a:srgbClr val="3F464C"/>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850392" y="1746504"/>
            <a:ext cx="402336" cy="402336"/>
          </a:xfrm>
          <a:prstGeom prst="rect">
            <a:avLst/>
          </a:prstGeom>
        </p:spPr>
      </p:pic>
      <p:sp>
        <p:nvSpPr>
          <p:cNvPr id="8" name="Text 4"/>
          <p:cNvSpPr/>
          <p:nvPr/>
        </p:nvSpPr>
        <p:spPr>
          <a:xfrm>
            <a:off x="484632" y="2240280"/>
            <a:ext cx="1133856" cy="640080"/>
          </a:xfrm>
          <a:prstGeom prst="rect">
            <a:avLst/>
          </a:prstGeom>
          <a:noFill/>
          <a:ln/>
        </p:spPr>
        <p:txBody>
          <a:bodyPr wrap="square" rtlCol="0" anchor="t"/>
          <a:lstStyle/>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RFI</a:t>
            </a:r>
            <a:endParaRPr lang="en-US" sz="1000" dirty="0"/>
          </a:p>
        </p:txBody>
      </p:sp>
      <p:sp>
        <p:nvSpPr>
          <p:cNvPr id="9" name="Shape 5"/>
          <p:cNvSpPr/>
          <p:nvPr/>
        </p:nvSpPr>
        <p:spPr>
          <a:xfrm>
            <a:off x="1691640" y="3346704"/>
            <a:ext cx="11384280" cy="1417320"/>
          </a:xfrm>
          <a:prstGeom prst="roundRect">
            <a:avLst>
              <a:gd name="adj" fmla="val 3871"/>
            </a:avLst>
          </a:prstGeom>
          <a:solidFill>
            <a:srgbClr val="FFFFFF"/>
          </a:solidFill>
          <a:ln/>
        </p:spPr>
        <p:txBody>
          <a:bodyPr/>
          <a:lstStyle/>
          <a:p>
            <a:endParaRPr lang="en-US"/>
          </a:p>
        </p:txBody>
      </p:sp>
      <p:sp>
        <p:nvSpPr>
          <p:cNvPr id="10" name="Shape 6"/>
          <p:cNvSpPr/>
          <p:nvPr/>
        </p:nvSpPr>
        <p:spPr>
          <a:xfrm>
            <a:off x="457200" y="3346704"/>
            <a:ext cx="1188720" cy="1417320"/>
          </a:xfrm>
          <a:prstGeom prst="roundRect">
            <a:avLst>
              <a:gd name="adj" fmla="val 4615"/>
            </a:avLst>
          </a:prstGeom>
          <a:solidFill>
            <a:srgbClr val="C8102E"/>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850392" y="3579876"/>
            <a:ext cx="402336" cy="402336"/>
          </a:xfrm>
          <a:prstGeom prst="rect">
            <a:avLst/>
          </a:prstGeom>
        </p:spPr>
      </p:pic>
      <p:sp>
        <p:nvSpPr>
          <p:cNvPr id="12" name="Text 7"/>
          <p:cNvSpPr/>
          <p:nvPr/>
        </p:nvSpPr>
        <p:spPr>
          <a:xfrm>
            <a:off x="484632" y="4073652"/>
            <a:ext cx="1133856" cy="640080"/>
          </a:xfrm>
          <a:prstGeom prst="rect">
            <a:avLst/>
          </a:prstGeom>
          <a:noFill/>
          <a:ln/>
        </p:spPr>
        <p:txBody>
          <a:bodyPr wrap="square" rtlCol="0" anchor="t"/>
          <a:lstStyle/>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CRS Unit</a:t>
            </a:r>
            <a:endParaRPr lang="en-US" sz="1000" dirty="0"/>
          </a:p>
        </p:txBody>
      </p:sp>
      <p:sp>
        <p:nvSpPr>
          <p:cNvPr id="13" name="Shape 8"/>
          <p:cNvSpPr/>
          <p:nvPr/>
        </p:nvSpPr>
        <p:spPr>
          <a:xfrm>
            <a:off x="1691640" y="4837176"/>
            <a:ext cx="11384280" cy="1188720"/>
          </a:xfrm>
          <a:prstGeom prst="roundRect">
            <a:avLst>
              <a:gd name="adj" fmla="val 4615"/>
            </a:avLst>
          </a:prstGeom>
          <a:solidFill>
            <a:srgbClr val="FFFFFF"/>
          </a:solidFill>
          <a:ln/>
        </p:spPr>
        <p:txBody>
          <a:bodyPr/>
          <a:lstStyle/>
          <a:p>
            <a:endParaRPr lang="en-US"/>
          </a:p>
        </p:txBody>
      </p:sp>
      <p:sp>
        <p:nvSpPr>
          <p:cNvPr id="14" name="Shape 9"/>
          <p:cNvSpPr/>
          <p:nvPr/>
        </p:nvSpPr>
        <p:spPr>
          <a:xfrm>
            <a:off x="457200" y="4837176"/>
            <a:ext cx="1188720" cy="1188720"/>
          </a:xfrm>
          <a:prstGeom prst="roundRect">
            <a:avLst>
              <a:gd name="adj" fmla="val 4615"/>
            </a:avLst>
          </a:prstGeom>
          <a:solidFill>
            <a:srgbClr val="6E767D"/>
          </a:solidFill>
          <a:ln/>
        </p:spPr>
        <p:txBody>
          <a:bodyPr/>
          <a:lstStyle/>
          <a:p>
            <a:endParaRPr lang="en-US"/>
          </a:p>
        </p:txBody>
      </p:sp>
      <p:pic>
        <p:nvPicPr>
          <p:cNvPr id="15" name="Image 3" descr="preencoded.png"/>
          <p:cNvPicPr>
            <a:picLocks noChangeAspect="1"/>
          </p:cNvPicPr>
          <p:nvPr/>
        </p:nvPicPr>
        <p:blipFill>
          <a:blip r:embed="rId6"/>
          <a:stretch>
            <a:fillRect/>
          </a:stretch>
        </p:blipFill>
        <p:spPr>
          <a:xfrm>
            <a:off x="850392" y="4956048"/>
            <a:ext cx="402336" cy="402336"/>
          </a:xfrm>
          <a:prstGeom prst="rect">
            <a:avLst/>
          </a:prstGeom>
        </p:spPr>
      </p:pic>
      <p:sp>
        <p:nvSpPr>
          <p:cNvPr id="16" name="Text 10"/>
          <p:cNvSpPr/>
          <p:nvPr/>
        </p:nvSpPr>
        <p:spPr>
          <a:xfrm>
            <a:off x="484632" y="5449824"/>
            <a:ext cx="1133856" cy="640080"/>
          </a:xfrm>
          <a:prstGeom prst="rect">
            <a:avLst/>
          </a:prstGeom>
          <a:noFill/>
          <a:ln/>
        </p:spPr>
        <p:txBody>
          <a:bodyPr wrap="square" rtlCol="0" anchor="t"/>
          <a:lstStyle/>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Participating</a:t>
            </a:r>
            <a:endParaRPr lang="en-US" sz="1000" dirty="0"/>
          </a:p>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Jurisdiction</a:t>
            </a:r>
            <a:endParaRPr lang="en-US" sz="1000" dirty="0"/>
          </a:p>
        </p:txBody>
      </p:sp>
      <p:sp>
        <p:nvSpPr>
          <p:cNvPr id="17" name="Shape 11"/>
          <p:cNvSpPr/>
          <p:nvPr/>
        </p:nvSpPr>
        <p:spPr>
          <a:xfrm>
            <a:off x="1801368" y="2404872"/>
            <a:ext cx="603504" cy="603504"/>
          </a:xfrm>
          <a:prstGeom prst="ellipse">
            <a:avLst/>
          </a:prstGeom>
          <a:solidFill>
            <a:srgbClr val="3F464C"/>
          </a:solidFill>
          <a:ln/>
          <a:effectLst>
            <a:outerShdw blurRad="88900" dist="38100" dir="5400000" algn="bl" rotWithShape="0">
              <a:srgbClr val="2B3036">
                <a:alpha val="18000"/>
              </a:srgbClr>
            </a:outerShdw>
          </a:effectLst>
        </p:spPr>
        <p:txBody>
          <a:bodyPr/>
          <a:lstStyle/>
          <a:p>
            <a:endParaRPr lang="en-US"/>
          </a:p>
        </p:txBody>
      </p:sp>
      <p:pic>
        <p:nvPicPr>
          <p:cNvPr id="18" name="Image 4" descr="preencoded.png"/>
          <p:cNvPicPr>
            <a:picLocks noChangeAspect="1"/>
          </p:cNvPicPr>
          <p:nvPr/>
        </p:nvPicPr>
        <p:blipFill>
          <a:blip r:embed="rId7"/>
          <a:stretch>
            <a:fillRect/>
          </a:stretch>
        </p:blipFill>
        <p:spPr>
          <a:xfrm>
            <a:off x="1947672" y="2551176"/>
            <a:ext cx="310896" cy="310896"/>
          </a:xfrm>
          <a:prstGeom prst="rect">
            <a:avLst/>
          </a:prstGeom>
        </p:spPr>
      </p:pic>
      <p:sp>
        <p:nvSpPr>
          <p:cNvPr id="19" name="Shape 12"/>
          <p:cNvSpPr/>
          <p:nvPr/>
        </p:nvSpPr>
        <p:spPr>
          <a:xfrm>
            <a:off x="2404872" y="2706624"/>
            <a:ext cx="0" cy="0"/>
          </a:xfrm>
          <a:prstGeom prst="line">
            <a:avLst/>
          </a:prstGeom>
          <a:noFill/>
          <a:ln w="28575">
            <a:solidFill>
              <a:srgbClr val="3F464C"/>
            </a:solidFill>
            <a:prstDash val="solid"/>
            <a:tailEnd type="triangle"/>
          </a:ln>
        </p:spPr>
        <p:txBody>
          <a:bodyPr/>
          <a:lstStyle/>
          <a:p>
            <a:endParaRPr lang="en-US"/>
          </a:p>
        </p:txBody>
      </p:sp>
      <p:sp>
        <p:nvSpPr>
          <p:cNvPr id="20" name="Shape 13"/>
          <p:cNvSpPr/>
          <p:nvPr/>
        </p:nvSpPr>
        <p:spPr>
          <a:xfrm>
            <a:off x="2400300" y="2350008"/>
            <a:ext cx="1417320" cy="713232"/>
          </a:xfrm>
          <a:prstGeom prst="roundRect">
            <a:avLst>
              <a:gd name="adj" fmla="val 10256"/>
            </a:avLst>
          </a:prstGeom>
          <a:solidFill>
            <a:srgbClr val="9AA1A7"/>
          </a:solidFill>
          <a:ln/>
          <a:effectLst>
            <a:outerShdw blurRad="88900" dist="38100" dir="5400000" algn="bl" rotWithShape="0">
              <a:srgbClr val="2B3036">
                <a:alpha val="18000"/>
              </a:srgbClr>
            </a:outerShdw>
          </a:effectLst>
        </p:spPr>
        <p:txBody>
          <a:bodyPr/>
          <a:lstStyle/>
          <a:p>
            <a:endParaRPr lang="en-US"/>
          </a:p>
        </p:txBody>
      </p:sp>
      <p:sp>
        <p:nvSpPr>
          <p:cNvPr id="21" name="Text 14"/>
          <p:cNvSpPr/>
          <p:nvPr/>
        </p:nvSpPr>
        <p:spPr>
          <a:xfrm>
            <a:off x="2446020" y="2350008"/>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1  Submit</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Onboarding App.</a:t>
            </a:r>
            <a:endParaRPr lang="en-US" sz="900" dirty="0"/>
          </a:p>
        </p:txBody>
      </p:sp>
      <p:sp>
        <p:nvSpPr>
          <p:cNvPr id="22" name="Shape 15"/>
          <p:cNvSpPr/>
          <p:nvPr/>
        </p:nvSpPr>
        <p:spPr>
          <a:xfrm>
            <a:off x="3108960" y="3063240"/>
            <a:ext cx="0" cy="317754"/>
          </a:xfrm>
          <a:prstGeom prst="line">
            <a:avLst/>
          </a:prstGeom>
          <a:noFill/>
          <a:ln w="28575">
            <a:solidFill>
              <a:srgbClr val="9AA1A7"/>
            </a:solidFill>
            <a:prstDash val="solid"/>
          </a:ln>
        </p:spPr>
        <p:txBody>
          <a:bodyPr/>
          <a:lstStyle/>
          <a:p>
            <a:endParaRPr lang="en-US"/>
          </a:p>
        </p:txBody>
      </p:sp>
      <p:sp>
        <p:nvSpPr>
          <p:cNvPr id="23" name="Shape 16"/>
          <p:cNvSpPr/>
          <p:nvPr/>
        </p:nvSpPr>
        <p:spPr>
          <a:xfrm>
            <a:off x="3108960" y="3380994"/>
            <a:ext cx="1234440" cy="0"/>
          </a:xfrm>
          <a:prstGeom prst="line">
            <a:avLst/>
          </a:prstGeom>
          <a:noFill/>
          <a:ln w="28575">
            <a:solidFill>
              <a:srgbClr val="9AA1A7"/>
            </a:solidFill>
            <a:prstDash val="solid"/>
          </a:ln>
        </p:spPr>
        <p:txBody>
          <a:bodyPr/>
          <a:lstStyle/>
          <a:p>
            <a:endParaRPr lang="en-US"/>
          </a:p>
        </p:txBody>
      </p:sp>
      <p:sp>
        <p:nvSpPr>
          <p:cNvPr id="24" name="Shape 17"/>
          <p:cNvSpPr/>
          <p:nvPr/>
        </p:nvSpPr>
        <p:spPr>
          <a:xfrm>
            <a:off x="4343400" y="3380994"/>
            <a:ext cx="0" cy="317754"/>
          </a:xfrm>
          <a:prstGeom prst="line">
            <a:avLst/>
          </a:prstGeom>
          <a:noFill/>
          <a:ln w="28575">
            <a:solidFill>
              <a:srgbClr val="9AA1A7"/>
            </a:solidFill>
            <a:prstDash val="solid"/>
            <a:tailEnd type="triangle"/>
          </a:ln>
        </p:spPr>
        <p:txBody>
          <a:bodyPr/>
          <a:lstStyle/>
          <a:p>
            <a:endParaRPr lang="en-US"/>
          </a:p>
        </p:txBody>
      </p:sp>
      <p:sp>
        <p:nvSpPr>
          <p:cNvPr id="25" name="Shape 18"/>
          <p:cNvSpPr/>
          <p:nvPr/>
        </p:nvSpPr>
        <p:spPr>
          <a:xfrm>
            <a:off x="3634740" y="3698748"/>
            <a:ext cx="1417320" cy="713232"/>
          </a:xfrm>
          <a:prstGeom prst="roundRect">
            <a:avLst>
              <a:gd name="adj" fmla="val 10256"/>
            </a:avLst>
          </a:prstGeom>
          <a:solidFill>
            <a:srgbClr val="6E767D"/>
          </a:solidFill>
          <a:ln/>
          <a:effectLst>
            <a:outerShdw blurRad="88900" dist="38100" dir="5400000" algn="bl" rotWithShape="0">
              <a:srgbClr val="2B3036">
                <a:alpha val="18000"/>
              </a:srgbClr>
            </a:outerShdw>
          </a:effectLst>
        </p:spPr>
        <p:txBody>
          <a:bodyPr/>
          <a:lstStyle/>
          <a:p>
            <a:endParaRPr lang="en-US"/>
          </a:p>
        </p:txBody>
      </p:sp>
      <p:sp>
        <p:nvSpPr>
          <p:cNvPr id="26" name="Text 19"/>
          <p:cNvSpPr/>
          <p:nvPr/>
        </p:nvSpPr>
        <p:spPr>
          <a:xfrm>
            <a:off x="3680460" y="3698748"/>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2  Review</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Application</a:t>
            </a:r>
            <a:endParaRPr lang="en-US" sz="900" dirty="0"/>
          </a:p>
        </p:txBody>
      </p:sp>
      <p:sp>
        <p:nvSpPr>
          <p:cNvPr id="27" name="Shape 20"/>
          <p:cNvSpPr/>
          <p:nvPr/>
        </p:nvSpPr>
        <p:spPr>
          <a:xfrm>
            <a:off x="5052060" y="4055364"/>
            <a:ext cx="59436" cy="0"/>
          </a:xfrm>
          <a:prstGeom prst="line">
            <a:avLst/>
          </a:prstGeom>
          <a:noFill/>
          <a:ln w="28575">
            <a:solidFill>
              <a:srgbClr val="6E767D"/>
            </a:solidFill>
            <a:prstDash val="solid"/>
            <a:tailEnd type="triangle"/>
          </a:ln>
        </p:spPr>
        <p:txBody>
          <a:bodyPr/>
          <a:lstStyle/>
          <a:p>
            <a:endParaRPr lang="en-US"/>
          </a:p>
        </p:txBody>
      </p:sp>
      <p:sp>
        <p:nvSpPr>
          <p:cNvPr id="28" name="Shape 21"/>
          <p:cNvSpPr/>
          <p:nvPr/>
        </p:nvSpPr>
        <p:spPr>
          <a:xfrm>
            <a:off x="5111496" y="3726180"/>
            <a:ext cx="658368" cy="658368"/>
          </a:xfrm>
          <a:prstGeom prst="diamond">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29" name="Text 22"/>
          <p:cNvSpPr/>
          <p:nvPr/>
        </p:nvSpPr>
        <p:spPr>
          <a:xfrm>
            <a:off x="5111496" y="3726180"/>
            <a:ext cx="658368" cy="658368"/>
          </a:xfrm>
          <a:prstGeom prst="rect">
            <a:avLst/>
          </a:prstGeom>
          <a:noFill/>
          <a:ln/>
        </p:spPr>
        <p:txBody>
          <a:bodyPr wrap="square" rtlCol="0" anchor="ctr"/>
          <a:lstStyle/>
          <a:p>
            <a:pPr marL="0" indent="0" algn="ctr">
              <a:buNone/>
            </a:pPr>
            <a:r>
              <a:rPr lang="en-US" sz="1900" b="1" dirty="0">
                <a:solidFill>
                  <a:srgbClr val="FFFFFF"/>
                </a:solidFill>
                <a:latin typeface="Tahoma" pitchFamily="34" charset="0"/>
                <a:ea typeface="Tahoma" pitchFamily="34" charset="-122"/>
                <a:cs typeface="Tahoma" pitchFamily="34" charset="-120"/>
              </a:rPr>
              <a:t>?</a:t>
            </a:r>
            <a:endParaRPr lang="en-US" sz="1900" dirty="0"/>
          </a:p>
        </p:txBody>
      </p:sp>
      <p:sp>
        <p:nvSpPr>
          <p:cNvPr id="30" name="Text 23"/>
          <p:cNvSpPr/>
          <p:nvPr/>
        </p:nvSpPr>
        <p:spPr>
          <a:xfrm>
            <a:off x="4572000" y="3433572"/>
            <a:ext cx="1737360" cy="237744"/>
          </a:xfrm>
          <a:prstGeom prst="rect">
            <a:avLst/>
          </a:prstGeom>
          <a:noFill/>
          <a:ln/>
        </p:spPr>
        <p:txBody>
          <a:bodyPr wrap="square" rtlCol="0" anchor="ctr"/>
          <a:lstStyle/>
          <a:p>
            <a:pPr marL="0" indent="0" algn="ctr">
              <a:buNone/>
            </a:pPr>
            <a:r>
              <a:rPr lang="en-US" sz="900" b="1" dirty="0">
                <a:solidFill>
                  <a:srgbClr val="3F464C"/>
                </a:solidFill>
                <a:latin typeface="Tahoma" pitchFamily="34" charset="0"/>
                <a:ea typeface="Tahoma" pitchFamily="34" charset="-122"/>
                <a:cs typeface="Tahoma" pitchFamily="34" charset="-120"/>
              </a:rPr>
              <a:t>G1 · Approved?</a:t>
            </a:r>
            <a:endParaRPr lang="en-US" sz="900" dirty="0"/>
          </a:p>
        </p:txBody>
      </p:sp>
      <p:sp>
        <p:nvSpPr>
          <p:cNvPr id="31" name="Text 24"/>
          <p:cNvSpPr/>
          <p:nvPr/>
        </p:nvSpPr>
        <p:spPr>
          <a:xfrm>
            <a:off x="5056632" y="3159252"/>
            <a:ext cx="548640" cy="219456"/>
          </a:xfrm>
          <a:prstGeom prst="rect">
            <a:avLst/>
          </a:prstGeom>
          <a:noFill/>
          <a:ln/>
        </p:spPr>
        <p:txBody>
          <a:bodyPr wrap="square" rtlCol="0" anchor="ctr"/>
          <a:lstStyle/>
          <a:p>
            <a:pPr marL="0" indent="0" algn="l">
              <a:buNone/>
            </a:pPr>
            <a:r>
              <a:rPr lang="en-US" sz="900" b="1" dirty="0">
                <a:solidFill>
                  <a:srgbClr val="C8102E"/>
                </a:solidFill>
                <a:latin typeface="Tahoma" pitchFamily="34" charset="0"/>
                <a:ea typeface="Tahoma" pitchFamily="34" charset="-122"/>
                <a:cs typeface="Tahoma" pitchFamily="34" charset="-120"/>
              </a:rPr>
              <a:t>No</a:t>
            </a:r>
            <a:endParaRPr lang="en-US" sz="900" dirty="0"/>
          </a:p>
        </p:txBody>
      </p:sp>
      <p:sp>
        <p:nvSpPr>
          <p:cNvPr id="32" name="Shape 25"/>
          <p:cNvSpPr/>
          <p:nvPr/>
        </p:nvSpPr>
        <p:spPr>
          <a:xfrm>
            <a:off x="5440680" y="3726180"/>
            <a:ext cx="0" cy="0"/>
          </a:xfrm>
          <a:prstGeom prst="line">
            <a:avLst/>
          </a:prstGeom>
          <a:noFill/>
          <a:ln w="28575">
            <a:solidFill>
              <a:srgbClr val="C8102E"/>
            </a:solidFill>
            <a:prstDash val="solid"/>
          </a:ln>
        </p:spPr>
        <p:txBody>
          <a:bodyPr/>
          <a:lstStyle/>
          <a:p>
            <a:endParaRPr lang="en-US"/>
          </a:p>
        </p:txBody>
      </p:sp>
      <p:sp>
        <p:nvSpPr>
          <p:cNvPr id="33" name="Shape 26"/>
          <p:cNvSpPr/>
          <p:nvPr/>
        </p:nvSpPr>
        <p:spPr>
          <a:xfrm>
            <a:off x="5440680" y="1581912"/>
            <a:ext cx="388620" cy="0"/>
          </a:xfrm>
          <a:prstGeom prst="line">
            <a:avLst/>
          </a:prstGeom>
          <a:noFill/>
          <a:ln w="28575">
            <a:solidFill>
              <a:srgbClr val="C8102E"/>
            </a:solidFill>
            <a:prstDash val="solid"/>
            <a:tailEnd type="triangle"/>
          </a:ln>
        </p:spPr>
        <p:txBody>
          <a:bodyPr/>
          <a:lstStyle/>
          <a:p>
            <a:endParaRPr lang="en-US"/>
          </a:p>
        </p:txBody>
      </p:sp>
      <p:sp>
        <p:nvSpPr>
          <p:cNvPr id="34" name="Shape 27"/>
          <p:cNvSpPr/>
          <p:nvPr/>
        </p:nvSpPr>
        <p:spPr>
          <a:xfrm>
            <a:off x="5829300" y="1225296"/>
            <a:ext cx="1417320" cy="713232"/>
          </a:xfrm>
          <a:prstGeom prst="roundRect">
            <a:avLst>
              <a:gd name="adj" fmla="val 10256"/>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35" name="Text 28"/>
          <p:cNvSpPr/>
          <p:nvPr/>
        </p:nvSpPr>
        <p:spPr>
          <a:xfrm>
            <a:off x="5875020" y="1225296"/>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Notify RFI of</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Rejection</a:t>
            </a:r>
            <a:endParaRPr lang="en-US" sz="900" dirty="0"/>
          </a:p>
        </p:txBody>
      </p:sp>
      <p:sp>
        <p:nvSpPr>
          <p:cNvPr id="36" name="Shape 29"/>
          <p:cNvSpPr/>
          <p:nvPr/>
        </p:nvSpPr>
        <p:spPr>
          <a:xfrm>
            <a:off x="7246620" y="1581912"/>
            <a:ext cx="502920" cy="0"/>
          </a:xfrm>
          <a:prstGeom prst="line">
            <a:avLst/>
          </a:prstGeom>
          <a:noFill/>
          <a:ln w="28575">
            <a:solidFill>
              <a:srgbClr val="C8102E"/>
            </a:solidFill>
            <a:prstDash val="solid"/>
            <a:tailEnd type="triangle"/>
          </a:ln>
        </p:spPr>
        <p:txBody>
          <a:bodyPr/>
          <a:lstStyle/>
          <a:p>
            <a:endParaRPr lang="en-US"/>
          </a:p>
        </p:txBody>
      </p:sp>
      <p:sp>
        <p:nvSpPr>
          <p:cNvPr id="37" name="Shape 30"/>
          <p:cNvSpPr/>
          <p:nvPr/>
        </p:nvSpPr>
        <p:spPr>
          <a:xfrm>
            <a:off x="7749540" y="1280160"/>
            <a:ext cx="603504" cy="603504"/>
          </a:xfrm>
          <a:prstGeom prst="ellipse">
            <a:avLst/>
          </a:prstGeom>
          <a:solidFill>
            <a:srgbClr val="3F464C"/>
          </a:solidFill>
          <a:ln w="33020">
            <a:solidFill>
              <a:srgbClr val="C8102E"/>
            </a:solidFill>
            <a:prstDash val="solid"/>
          </a:ln>
          <a:effectLst>
            <a:outerShdw blurRad="88900" dist="38100" dir="5400000" algn="bl" rotWithShape="0">
              <a:srgbClr val="2B3036">
                <a:alpha val="18000"/>
              </a:srgbClr>
            </a:outerShdw>
          </a:effectLst>
        </p:spPr>
        <p:txBody>
          <a:bodyPr/>
          <a:lstStyle/>
          <a:p>
            <a:endParaRPr lang="en-US"/>
          </a:p>
        </p:txBody>
      </p:sp>
      <p:pic>
        <p:nvPicPr>
          <p:cNvPr id="38" name="Image 5" descr="preencoded.png"/>
          <p:cNvPicPr>
            <a:picLocks noChangeAspect="1"/>
          </p:cNvPicPr>
          <p:nvPr/>
        </p:nvPicPr>
        <p:blipFill>
          <a:blip r:embed="rId8"/>
          <a:stretch>
            <a:fillRect/>
          </a:stretch>
        </p:blipFill>
        <p:spPr>
          <a:xfrm>
            <a:off x="7895844" y="1426464"/>
            <a:ext cx="310896" cy="310896"/>
          </a:xfrm>
          <a:prstGeom prst="rect">
            <a:avLst/>
          </a:prstGeom>
        </p:spPr>
      </p:pic>
      <p:sp>
        <p:nvSpPr>
          <p:cNvPr id="39" name="Text 31"/>
          <p:cNvSpPr/>
          <p:nvPr/>
        </p:nvSpPr>
        <p:spPr>
          <a:xfrm>
            <a:off x="7502652" y="1911096"/>
            <a:ext cx="1371600" cy="219456"/>
          </a:xfrm>
          <a:prstGeom prst="rect">
            <a:avLst/>
          </a:prstGeom>
          <a:noFill/>
          <a:ln/>
        </p:spPr>
        <p:txBody>
          <a:bodyPr wrap="square" rtlCol="0" anchor="ctr"/>
          <a:lstStyle/>
          <a:p>
            <a:pPr marL="0" indent="0" algn="l">
              <a:buNone/>
            </a:pPr>
            <a:r>
              <a:rPr lang="en-US" sz="800" b="1" i="1" dirty="0">
                <a:solidFill>
                  <a:srgbClr val="C8102E"/>
                </a:solidFill>
                <a:latin typeface="Tahoma" pitchFamily="34" charset="0"/>
                <a:ea typeface="Tahoma" pitchFamily="34" charset="-122"/>
                <a:cs typeface="Tahoma" pitchFamily="34" charset="-120"/>
              </a:rPr>
              <a:t>End · Rejected</a:t>
            </a:r>
            <a:endParaRPr lang="en-US" sz="800" dirty="0"/>
          </a:p>
        </p:txBody>
      </p:sp>
      <p:sp>
        <p:nvSpPr>
          <p:cNvPr id="40" name="Text 32"/>
          <p:cNvSpPr/>
          <p:nvPr/>
        </p:nvSpPr>
        <p:spPr>
          <a:xfrm>
            <a:off x="5550408" y="4110228"/>
            <a:ext cx="548640" cy="219456"/>
          </a:xfrm>
          <a:prstGeom prst="rect">
            <a:avLst/>
          </a:prstGeom>
          <a:noFill/>
          <a:ln/>
        </p:spPr>
        <p:txBody>
          <a:bodyPr wrap="square" rtlCol="0" anchor="ctr"/>
          <a:lstStyle/>
          <a:p>
            <a:pPr marL="0" indent="0" algn="l">
              <a:buNone/>
            </a:pPr>
            <a:r>
              <a:rPr lang="en-US" sz="900" b="1" dirty="0">
                <a:solidFill>
                  <a:srgbClr val="3F464C"/>
                </a:solidFill>
                <a:latin typeface="Tahoma" pitchFamily="34" charset="0"/>
                <a:ea typeface="Tahoma" pitchFamily="34" charset="-122"/>
                <a:cs typeface="Tahoma" pitchFamily="34" charset="-120"/>
              </a:rPr>
              <a:t>Yes</a:t>
            </a:r>
            <a:endParaRPr lang="en-US" sz="900" dirty="0"/>
          </a:p>
        </p:txBody>
      </p:sp>
      <p:sp>
        <p:nvSpPr>
          <p:cNvPr id="41" name="Shape 33"/>
          <p:cNvSpPr/>
          <p:nvPr/>
        </p:nvSpPr>
        <p:spPr>
          <a:xfrm>
            <a:off x="5769864" y="4055364"/>
            <a:ext cx="59436" cy="0"/>
          </a:xfrm>
          <a:prstGeom prst="line">
            <a:avLst/>
          </a:prstGeom>
          <a:noFill/>
          <a:ln w="28575">
            <a:solidFill>
              <a:srgbClr val="6E767D"/>
            </a:solidFill>
            <a:prstDash val="solid"/>
            <a:tailEnd type="triangle"/>
          </a:ln>
        </p:spPr>
        <p:txBody>
          <a:bodyPr/>
          <a:lstStyle/>
          <a:p>
            <a:endParaRPr lang="en-US"/>
          </a:p>
        </p:txBody>
      </p:sp>
      <p:sp>
        <p:nvSpPr>
          <p:cNvPr id="42" name="Shape 34"/>
          <p:cNvSpPr/>
          <p:nvPr/>
        </p:nvSpPr>
        <p:spPr>
          <a:xfrm>
            <a:off x="5829300" y="3698748"/>
            <a:ext cx="1417320" cy="713232"/>
          </a:xfrm>
          <a:prstGeom prst="roundRect">
            <a:avLst>
              <a:gd name="adj" fmla="val 10256"/>
            </a:avLst>
          </a:prstGeom>
          <a:solidFill>
            <a:srgbClr val="6E767D"/>
          </a:solidFill>
          <a:ln/>
          <a:effectLst>
            <a:outerShdw blurRad="88900" dist="38100" dir="5400000" algn="bl" rotWithShape="0">
              <a:srgbClr val="2B3036">
                <a:alpha val="18000"/>
              </a:srgbClr>
            </a:outerShdw>
          </a:effectLst>
        </p:spPr>
        <p:txBody>
          <a:bodyPr/>
          <a:lstStyle/>
          <a:p>
            <a:endParaRPr lang="en-US"/>
          </a:p>
        </p:txBody>
      </p:sp>
      <p:sp>
        <p:nvSpPr>
          <p:cNvPr id="43" name="Text 35"/>
          <p:cNvSpPr/>
          <p:nvPr/>
        </p:nvSpPr>
        <p:spPr>
          <a:xfrm>
            <a:off x="5875020" y="3698748"/>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Register &amp;</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Authorize RFI</a:t>
            </a:r>
            <a:endParaRPr lang="en-US" sz="900" dirty="0"/>
          </a:p>
        </p:txBody>
      </p:sp>
      <p:sp>
        <p:nvSpPr>
          <p:cNvPr id="44" name="Shape 36"/>
          <p:cNvSpPr/>
          <p:nvPr/>
        </p:nvSpPr>
        <p:spPr>
          <a:xfrm>
            <a:off x="6537960" y="3698748"/>
            <a:ext cx="0" cy="0"/>
          </a:xfrm>
          <a:prstGeom prst="line">
            <a:avLst/>
          </a:prstGeom>
          <a:noFill/>
          <a:ln w="28575">
            <a:solidFill>
              <a:srgbClr val="6E767D"/>
            </a:solidFill>
            <a:prstDash val="solid"/>
          </a:ln>
        </p:spPr>
        <p:txBody>
          <a:bodyPr/>
          <a:lstStyle/>
          <a:p>
            <a:endParaRPr lang="en-US"/>
          </a:p>
        </p:txBody>
      </p:sp>
      <p:sp>
        <p:nvSpPr>
          <p:cNvPr id="45" name="Shape 37"/>
          <p:cNvSpPr/>
          <p:nvPr/>
        </p:nvSpPr>
        <p:spPr>
          <a:xfrm>
            <a:off x="6537960" y="3380994"/>
            <a:ext cx="1234440" cy="0"/>
          </a:xfrm>
          <a:prstGeom prst="line">
            <a:avLst/>
          </a:prstGeom>
          <a:noFill/>
          <a:ln w="28575">
            <a:solidFill>
              <a:srgbClr val="6E767D"/>
            </a:solidFill>
            <a:prstDash val="solid"/>
          </a:ln>
        </p:spPr>
        <p:txBody>
          <a:bodyPr/>
          <a:lstStyle/>
          <a:p>
            <a:endParaRPr lang="en-US"/>
          </a:p>
        </p:txBody>
      </p:sp>
      <p:sp>
        <p:nvSpPr>
          <p:cNvPr id="46" name="Shape 38"/>
          <p:cNvSpPr/>
          <p:nvPr/>
        </p:nvSpPr>
        <p:spPr>
          <a:xfrm>
            <a:off x="7772400" y="3380994"/>
            <a:ext cx="0" cy="0"/>
          </a:xfrm>
          <a:prstGeom prst="line">
            <a:avLst/>
          </a:prstGeom>
          <a:noFill/>
          <a:ln w="28575">
            <a:solidFill>
              <a:srgbClr val="6E767D"/>
            </a:solidFill>
            <a:prstDash val="solid"/>
            <a:tailEnd type="triangle"/>
          </a:ln>
        </p:spPr>
        <p:txBody>
          <a:bodyPr/>
          <a:lstStyle/>
          <a:p>
            <a:endParaRPr lang="en-US"/>
          </a:p>
        </p:txBody>
      </p:sp>
      <p:sp>
        <p:nvSpPr>
          <p:cNvPr id="47" name="Shape 39"/>
          <p:cNvSpPr/>
          <p:nvPr/>
        </p:nvSpPr>
        <p:spPr>
          <a:xfrm>
            <a:off x="7063740" y="2350008"/>
            <a:ext cx="1417320" cy="713232"/>
          </a:xfrm>
          <a:prstGeom prst="roundRect">
            <a:avLst>
              <a:gd name="adj" fmla="val 10256"/>
            </a:avLst>
          </a:prstGeom>
          <a:solidFill>
            <a:srgbClr val="9AA1A7"/>
          </a:solidFill>
          <a:ln/>
          <a:effectLst>
            <a:outerShdw blurRad="88900" dist="38100" dir="5400000" algn="bl" rotWithShape="0">
              <a:srgbClr val="2B3036">
                <a:alpha val="18000"/>
              </a:srgbClr>
            </a:outerShdw>
          </a:effectLst>
        </p:spPr>
        <p:txBody>
          <a:bodyPr/>
          <a:lstStyle/>
          <a:p>
            <a:endParaRPr lang="en-US"/>
          </a:p>
        </p:txBody>
      </p:sp>
      <p:sp>
        <p:nvSpPr>
          <p:cNvPr id="48" name="Text 40"/>
          <p:cNvSpPr/>
          <p:nvPr/>
        </p:nvSpPr>
        <p:spPr>
          <a:xfrm>
            <a:off x="7109460" y="2350008"/>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3  Submit CRS</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Data Return</a:t>
            </a:r>
            <a:endParaRPr lang="en-US" sz="900" dirty="0"/>
          </a:p>
        </p:txBody>
      </p:sp>
      <p:sp>
        <p:nvSpPr>
          <p:cNvPr id="49" name="Shape 41"/>
          <p:cNvSpPr/>
          <p:nvPr/>
        </p:nvSpPr>
        <p:spPr>
          <a:xfrm>
            <a:off x="7772400" y="3063240"/>
            <a:ext cx="0" cy="317754"/>
          </a:xfrm>
          <a:prstGeom prst="line">
            <a:avLst/>
          </a:prstGeom>
          <a:noFill/>
          <a:ln w="28575">
            <a:solidFill>
              <a:srgbClr val="9AA1A7"/>
            </a:solidFill>
            <a:prstDash val="solid"/>
          </a:ln>
        </p:spPr>
        <p:txBody>
          <a:bodyPr/>
          <a:lstStyle/>
          <a:p>
            <a:endParaRPr lang="en-US"/>
          </a:p>
        </p:txBody>
      </p:sp>
      <p:sp>
        <p:nvSpPr>
          <p:cNvPr id="50" name="Shape 42"/>
          <p:cNvSpPr/>
          <p:nvPr/>
        </p:nvSpPr>
        <p:spPr>
          <a:xfrm>
            <a:off x="7772400" y="3380994"/>
            <a:ext cx="1234440" cy="0"/>
          </a:xfrm>
          <a:prstGeom prst="line">
            <a:avLst/>
          </a:prstGeom>
          <a:noFill/>
          <a:ln w="28575">
            <a:solidFill>
              <a:srgbClr val="9AA1A7"/>
            </a:solidFill>
            <a:prstDash val="solid"/>
          </a:ln>
        </p:spPr>
        <p:txBody>
          <a:bodyPr/>
          <a:lstStyle/>
          <a:p>
            <a:endParaRPr lang="en-US"/>
          </a:p>
        </p:txBody>
      </p:sp>
      <p:sp>
        <p:nvSpPr>
          <p:cNvPr id="51" name="Shape 43"/>
          <p:cNvSpPr/>
          <p:nvPr/>
        </p:nvSpPr>
        <p:spPr>
          <a:xfrm>
            <a:off x="9006840" y="3380994"/>
            <a:ext cx="0" cy="317754"/>
          </a:xfrm>
          <a:prstGeom prst="line">
            <a:avLst/>
          </a:prstGeom>
          <a:noFill/>
          <a:ln w="28575">
            <a:solidFill>
              <a:srgbClr val="9AA1A7"/>
            </a:solidFill>
            <a:prstDash val="solid"/>
            <a:tailEnd type="triangle"/>
          </a:ln>
        </p:spPr>
        <p:txBody>
          <a:bodyPr/>
          <a:lstStyle/>
          <a:p>
            <a:endParaRPr lang="en-US"/>
          </a:p>
        </p:txBody>
      </p:sp>
      <p:sp>
        <p:nvSpPr>
          <p:cNvPr id="52" name="Shape 44"/>
          <p:cNvSpPr/>
          <p:nvPr/>
        </p:nvSpPr>
        <p:spPr>
          <a:xfrm>
            <a:off x="8298180" y="3698748"/>
            <a:ext cx="1417320" cy="713232"/>
          </a:xfrm>
          <a:prstGeom prst="roundRect">
            <a:avLst>
              <a:gd name="adj" fmla="val 10256"/>
            </a:avLst>
          </a:prstGeom>
          <a:solidFill>
            <a:srgbClr val="6E767D"/>
          </a:solidFill>
          <a:ln/>
          <a:effectLst>
            <a:outerShdw blurRad="88900" dist="38100" dir="5400000" algn="bl" rotWithShape="0">
              <a:srgbClr val="2B3036">
                <a:alpha val="18000"/>
              </a:srgbClr>
            </a:outerShdw>
          </a:effectLst>
        </p:spPr>
        <p:txBody>
          <a:bodyPr/>
          <a:lstStyle/>
          <a:p>
            <a:endParaRPr lang="en-US"/>
          </a:p>
        </p:txBody>
      </p:sp>
      <p:sp>
        <p:nvSpPr>
          <p:cNvPr id="53" name="Text 45"/>
          <p:cNvSpPr/>
          <p:nvPr/>
        </p:nvSpPr>
        <p:spPr>
          <a:xfrm>
            <a:off x="8343900" y="3698748"/>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4  Data-Quality</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Validation</a:t>
            </a:r>
            <a:endParaRPr lang="en-US" sz="900" dirty="0"/>
          </a:p>
        </p:txBody>
      </p:sp>
      <p:sp>
        <p:nvSpPr>
          <p:cNvPr id="54" name="Shape 46"/>
          <p:cNvSpPr/>
          <p:nvPr/>
        </p:nvSpPr>
        <p:spPr>
          <a:xfrm>
            <a:off x="9715500" y="4055364"/>
            <a:ext cx="105156" cy="0"/>
          </a:xfrm>
          <a:prstGeom prst="line">
            <a:avLst/>
          </a:prstGeom>
          <a:noFill/>
          <a:ln w="28575">
            <a:solidFill>
              <a:srgbClr val="6E767D"/>
            </a:solidFill>
            <a:prstDash val="solid"/>
            <a:tailEnd type="triangle"/>
          </a:ln>
        </p:spPr>
        <p:txBody>
          <a:bodyPr/>
          <a:lstStyle/>
          <a:p>
            <a:endParaRPr lang="en-US"/>
          </a:p>
        </p:txBody>
      </p:sp>
      <p:sp>
        <p:nvSpPr>
          <p:cNvPr id="55" name="Shape 47"/>
          <p:cNvSpPr/>
          <p:nvPr/>
        </p:nvSpPr>
        <p:spPr>
          <a:xfrm>
            <a:off x="9820656" y="3726180"/>
            <a:ext cx="658368" cy="658368"/>
          </a:xfrm>
          <a:prstGeom prst="diamond">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56" name="Text 48"/>
          <p:cNvSpPr/>
          <p:nvPr/>
        </p:nvSpPr>
        <p:spPr>
          <a:xfrm>
            <a:off x="9820656" y="3726180"/>
            <a:ext cx="658368" cy="658368"/>
          </a:xfrm>
          <a:prstGeom prst="rect">
            <a:avLst/>
          </a:prstGeom>
          <a:noFill/>
          <a:ln/>
        </p:spPr>
        <p:txBody>
          <a:bodyPr wrap="square" rtlCol="0" anchor="ctr"/>
          <a:lstStyle/>
          <a:p>
            <a:pPr marL="0" indent="0" algn="ctr">
              <a:buNone/>
            </a:pPr>
            <a:r>
              <a:rPr lang="en-US" sz="1900" b="1" dirty="0">
                <a:solidFill>
                  <a:srgbClr val="FFFFFF"/>
                </a:solidFill>
                <a:latin typeface="Tahoma" pitchFamily="34" charset="0"/>
                <a:ea typeface="Tahoma" pitchFamily="34" charset="-122"/>
                <a:cs typeface="Tahoma" pitchFamily="34" charset="-120"/>
              </a:rPr>
              <a:t>?</a:t>
            </a:r>
            <a:endParaRPr lang="en-US" sz="1900" dirty="0"/>
          </a:p>
        </p:txBody>
      </p:sp>
      <p:sp>
        <p:nvSpPr>
          <p:cNvPr id="57" name="Text 49"/>
          <p:cNvSpPr/>
          <p:nvPr/>
        </p:nvSpPr>
        <p:spPr>
          <a:xfrm>
            <a:off x="9281160" y="3433572"/>
            <a:ext cx="1737360" cy="237744"/>
          </a:xfrm>
          <a:prstGeom prst="rect">
            <a:avLst/>
          </a:prstGeom>
          <a:noFill/>
          <a:ln/>
        </p:spPr>
        <p:txBody>
          <a:bodyPr wrap="square" rtlCol="0" anchor="ctr"/>
          <a:lstStyle/>
          <a:p>
            <a:pPr marL="0" indent="0" algn="ctr">
              <a:buNone/>
            </a:pPr>
            <a:r>
              <a:rPr lang="en-US" sz="900" b="1" dirty="0">
                <a:solidFill>
                  <a:srgbClr val="3F464C"/>
                </a:solidFill>
                <a:latin typeface="Tahoma" pitchFamily="34" charset="0"/>
                <a:ea typeface="Tahoma" pitchFamily="34" charset="-122"/>
                <a:cs typeface="Tahoma" pitchFamily="34" charset="-120"/>
              </a:rPr>
              <a:t>G2 · Valid?</a:t>
            </a:r>
            <a:endParaRPr lang="en-US" sz="900" dirty="0"/>
          </a:p>
        </p:txBody>
      </p:sp>
      <p:sp>
        <p:nvSpPr>
          <p:cNvPr id="58" name="Text 50"/>
          <p:cNvSpPr/>
          <p:nvPr/>
        </p:nvSpPr>
        <p:spPr>
          <a:xfrm>
            <a:off x="9765792" y="3159252"/>
            <a:ext cx="548640" cy="219456"/>
          </a:xfrm>
          <a:prstGeom prst="rect">
            <a:avLst/>
          </a:prstGeom>
          <a:noFill/>
          <a:ln/>
        </p:spPr>
        <p:txBody>
          <a:bodyPr wrap="square" rtlCol="0" anchor="ctr"/>
          <a:lstStyle/>
          <a:p>
            <a:pPr marL="0" indent="0" algn="l">
              <a:buNone/>
            </a:pPr>
            <a:r>
              <a:rPr lang="en-US" sz="900" b="1" dirty="0">
                <a:solidFill>
                  <a:srgbClr val="C8102E"/>
                </a:solidFill>
                <a:latin typeface="Tahoma" pitchFamily="34" charset="0"/>
                <a:ea typeface="Tahoma" pitchFamily="34" charset="-122"/>
                <a:cs typeface="Tahoma" pitchFamily="34" charset="-120"/>
              </a:rPr>
              <a:t>No</a:t>
            </a:r>
            <a:endParaRPr lang="en-US" sz="900" dirty="0"/>
          </a:p>
        </p:txBody>
      </p:sp>
      <p:sp>
        <p:nvSpPr>
          <p:cNvPr id="59" name="Shape 51"/>
          <p:cNvSpPr/>
          <p:nvPr/>
        </p:nvSpPr>
        <p:spPr>
          <a:xfrm>
            <a:off x="10149840" y="3726180"/>
            <a:ext cx="0" cy="0"/>
          </a:xfrm>
          <a:prstGeom prst="line">
            <a:avLst/>
          </a:prstGeom>
          <a:noFill/>
          <a:ln w="28575">
            <a:solidFill>
              <a:srgbClr val="C8102E"/>
            </a:solidFill>
            <a:prstDash val="solid"/>
          </a:ln>
        </p:spPr>
        <p:txBody>
          <a:bodyPr/>
          <a:lstStyle/>
          <a:p>
            <a:endParaRPr lang="en-US"/>
          </a:p>
        </p:txBody>
      </p:sp>
      <p:sp>
        <p:nvSpPr>
          <p:cNvPr id="60" name="Shape 52"/>
          <p:cNvSpPr/>
          <p:nvPr/>
        </p:nvSpPr>
        <p:spPr>
          <a:xfrm>
            <a:off x="9281160" y="2350008"/>
            <a:ext cx="1737360" cy="713232"/>
          </a:xfrm>
          <a:prstGeom prst="roundRect">
            <a:avLst>
              <a:gd name="adj" fmla="val 10256"/>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61" name="Text 53"/>
          <p:cNvSpPr/>
          <p:nvPr/>
        </p:nvSpPr>
        <p:spPr>
          <a:xfrm>
            <a:off x="9326880" y="2350008"/>
            <a:ext cx="1645920" cy="713232"/>
          </a:xfrm>
          <a:prstGeom prst="rect">
            <a:avLst/>
          </a:prstGeom>
          <a:noFill/>
          <a:ln/>
        </p:spPr>
        <p:txBody>
          <a:bodyPr wrap="square" rtlCol="0" anchor="ctr"/>
          <a:lstStyle/>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5–7  Amend &amp;</a:t>
            </a:r>
            <a:endParaRPr lang="en-US" sz="850" dirty="0"/>
          </a:p>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Resubmit (DocRefID)</a:t>
            </a:r>
            <a:endParaRPr lang="en-US" sz="850" dirty="0"/>
          </a:p>
        </p:txBody>
      </p:sp>
      <p:sp>
        <p:nvSpPr>
          <p:cNvPr id="62" name="Shape 54"/>
          <p:cNvSpPr/>
          <p:nvPr/>
        </p:nvSpPr>
        <p:spPr>
          <a:xfrm>
            <a:off x="9281160" y="2706624"/>
            <a:ext cx="0" cy="0"/>
          </a:xfrm>
          <a:prstGeom prst="line">
            <a:avLst/>
          </a:prstGeom>
          <a:noFill/>
          <a:ln w="28575">
            <a:solidFill>
              <a:srgbClr val="C8102E"/>
            </a:solidFill>
            <a:prstDash val="solid"/>
          </a:ln>
        </p:spPr>
        <p:txBody>
          <a:bodyPr/>
          <a:lstStyle/>
          <a:p>
            <a:endParaRPr lang="en-US"/>
          </a:p>
        </p:txBody>
      </p:sp>
      <p:sp>
        <p:nvSpPr>
          <p:cNvPr id="63" name="Shape 55"/>
          <p:cNvSpPr/>
          <p:nvPr/>
        </p:nvSpPr>
        <p:spPr>
          <a:xfrm>
            <a:off x="9006840" y="2724912"/>
            <a:ext cx="0" cy="973836"/>
          </a:xfrm>
          <a:prstGeom prst="line">
            <a:avLst/>
          </a:prstGeom>
          <a:noFill/>
          <a:ln w="28575">
            <a:solidFill>
              <a:srgbClr val="C8102E"/>
            </a:solidFill>
            <a:prstDash val="dash"/>
            <a:tailEnd type="triangle"/>
          </a:ln>
        </p:spPr>
        <p:txBody>
          <a:bodyPr/>
          <a:lstStyle/>
          <a:p>
            <a:endParaRPr lang="en-US"/>
          </a:p>
        </p:txBody>
      </p:sp>
      <p:sp>
        <p:nvSpPr>
          <p:cNvPr id="64" name="Text 56"/>
          <p:cNvSpPr/>
          <p:nvPr/>
        </p:nvSpPr>
        <p:spPr>
          <a:xfrm>
            <a:off x="9098280" y="3088386"/>
            <a:ext cx="1371600" cy="219456"/>
          </a:xfrm>
          <a:prstGeom prst="rect">
            <a:avLst/>
          </a:prstGeom>
          <a:noFill/>
          <a:ln/>
        </p:spPr>
        <p:txBody>
          <a:bodyPr wrap="square" rtlCol="0" anchor="ctr"/>
          <a:lstStyle/>
          <a:p>
            <a:pPr marL="0" indent="0" algn="l">
              <a:buNone/>
            </a:pPr>
            <a:r>
              <a:rPr lang="en-US" sz="800" b="1" i="1" dirty="0">
                <a:solidFill>
                  <a:srgbClr val="C8102E"/>
                </a:solidFill>
                <a:latin typeface="Tahoma" pitchFamily="34" charset="0"/>
                <a:ea typeface="Tahoma" pitchFamily="34" charset="-122"/>
                <a:cs typeface="Tahoma" pitchFamily="34" charset="-120"/>
              </a:rPr>
              <a:t>validation loop</a:t>
            </a:r>
            <a:endParaRPr lang="en-US" sz="800" dirty="0"/>
          </a:p>
        </p:txBody>
      </p:sp>
      <p:sp>
        <p:nvSpPr>
          <p:cNvPr id="65" name="Text 57"/>
          <p:cNvSpPr/>
          <p:nvPr/>
        </p:nvSpPr>
        <p:spPr>
          <a:xfrm>
            <a:off x="10259568" y="4110228"/>
            <a:ext cx="548640" cy="219456"/>
          </a:xfrm>
          <a:prstGeom prst="rect">
            <a:avLst/>
          </a:prstGeom>
          <a:noFill/>
          <a:ln/>
        </p:spPr>
        <p:txBody>
          <a:bodyPr wrap="square" rtlCol="0" anchor="ctr"/>
          <a:lstStyle/>
          <a:p>
            <a:pPr marL="0" indent="0" algn="l">
              <a:buNone/>
            </a:pPr>
            <a:r>
              <a:rPr lang="en-US" sz="900" b="1" dirty="0">
                <a:solidFill>
                  <a:srgbClr val="3F464C"/>
                </a:solidFill>
                <a:latin typeface="Tahoma" pitchFamily="34" charset="0"/>
                <a:ea typeface="Tahoma" pitchFamily="34" charset="-122"/>
                <a:cs typeface="Tahoma" pitchFamily="34" charset="-120"/>
              </a:rPr>
              <a:t>Yes</a:t>
            </a:r>
            <a:endParaRPr lang="en-US" sz="900" dirty="0"/>
          </a:p>
        </p:txBody>
      </p:sp>
      <p:sp>
        <p:nvSpPr>
          <p:cNvPr id="66" name="Shape 58"/>
          <p:cNvSpPr/>
          <p:nvPr/>
        </p:nvSpPr>
        <p:spPr>
          <a:xfrm>
            <a:off x="10479024" y="4055364"/>
            <a:ext cx="13716" cy="0"/>
          </a:xfrm>
          <a:prstGeom prst="line">
            <a:avLst/>
          </a:prstGeom>
          <a:noFill/>
          <a:ln w="28575">
            <a:solidFill>
              <a:srgbClr val="6E767D"/>
            </a:solidFill>
            <a:prstDash val="solid"/>
            <a:tailEnd type="triangle"/>
          </a:ln>
        </p:spPr>
        <p:txBody>
          <a:bodyPr/>
          <a:lstStyle/>
          <a:p>
            <a:endParaRPr lang="en-US"/>
          </a:p>
        </p:txBody>
      </p:sp>
      <p:sp>
        <p:nvSpPr>
          <p:cNvPr id="67" name="Shape 59"/>
          <p:cNvSpPr/>
          <p:nvPr/>
        </p:nvSpPr>
        <p:spPr>
          <a:xfrm>
            <a:off x="10492740" y="3698748"/>
            <a:ext cx="1600200" cy="713232"/>
          </a:xfrm>
          <a:prstGeom prst="roundRect">
            <a:avLst>
              <a:gd name="adj" fmla="val 10256"/>
            </a:avLst>
          </a:prstGeom>
          <a:solidFill>
            <a:srgbClr val="3F464C"/>
          </a:solidFill>
          <a:ln/>
          <a:effectLst>
            <a:outerShdw blurRad="88900" dist="38100" dir="5400000" algn="bl" rotWithShape="0">
              <a:srgbClr val="2B3036">
                <a:alpha val="18000"/>
              </a:srgbClr>
            </a:outerShdw>
          </a:effectLst>
        </p:spPr>
        <p:txBody>
          <a:bodyPr/>
          <a:lstStyle/>
          <a:p>
            <a:endParaRPr lang="en-US"/>
          </a:p>
        </p:txBody>
      </p:sp>
      <p:sp>
        <p:nvSpPr>
          <p:cNvPr id="68" name="Text 60"/>
          <p:cNvSpPr/>
          <p:nvPr/>
        </p:nvSpPr>
        <p:spPr>
          <a:xfrm>
            <a:off x="10538460" y="3698748"/>
            <a:ext cx="1508760" cy="713232"/>
          </a:xfrm>
          <a:prstGeom prst="rect">
            <a:avLst/>
          </a:prstGeom>
          <a:noFill/>
          <a:ln/>
        </p:spPr>
        <p:txBody>
          <a:bodyPr wrap="square" rtlCol="0" anchor="ctr"/>
          <a:lstStyle/>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8–10  Approve,</a:t>
            </a:r>
            <a:endParaRPr lang="en-US" sz="850" dirty="0"/>
          </a:p>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Package, Transmit</a:t>
            </a:r>
            <a:endParaRPr lang="en-US" sz="850" dirty="0"/>
          </a:p>
        </p:txBody>
      </p:sp>
      <p:sp>
        <p:nvSpPr>
          <p:cNvPr id="69" name="Shape 61"/>
          <p:cNvSpPr/>
          <p:nvPr/>
        </p:nvSpPr>
        <p:spPr>
          <a:xfrm>
            <a:off x="11292840" y="4411980"/>
            <a:ext cx="0" cy="662940"/>
          </a:xfrm>
          <a:prstGeom prst="line">
            <a:avLst/>
          </a:prstGeom>
          <a:noFill/>
          <a:ln w="28575">
            <a:solidFill>
              <a:srgbClr val="3F464C"/>
            </a:solidFill>
            <a:prstDash val="dash"/>
            <a:tailEnd type="triangle"/>
          </a:ln>
        </p:spPr>
        <p:txBody>
          <a:bodyPr/>
          <a:lstStyle/>
          <a:p>
            <a:endParaRPr lang="en-US"/>
          </a:p>
        </p:txBody>
      </p:sp>
      <p:sp>
        <p:nvSpPr>
          <p:cNvPr id="70" name="Text 62"/>
          <p:cNvSpPr/>
          <p:nvPr/>
        </p:nvSpPr>
        <p:spPr>
          <a:xfrm>
            <a:off x="11365992" y="4793742"/>
            <a:ext cx="640080" cy="219456"/>
          </a:xfrm>
          <a:prstGeom prst="rect">
            <a:avLst/>
          </a:prstGeom>
          <a:noFill/>
          <a:ln/>
        </p:spPr>
        <p:txBody>
          <a:bodyPr wrap="square" rtlCol="0" anchor="ctr"/>
          <a:lstStyle/>
          <a:p>
            <a:pPr marL="0" indent="0" algn="l">
              <a:buNone/>
            </a:pPr>
            <a:r>
              <a:rPr lang="en-US" sz="800" b="1" i="1" dirty="0">
                <a:solidFill>
                  <a:srgbClr val="3F464C"/>
                </a:solidFill>
                <a:latin typeface="Tahoma" pitchFamily="34" charset="0"/>
                <a:ea typeface="Tahoma" pitchFamily="34" charset="-122"/>
                <a:cs typeface="Tahoma" pitchFamily="34" charset="-120"/>
              </a:rPr>
              <a:t>CTS</a:t>
            </a:r>
            <a:endParaRPr lang="en-US" sz="800" dirty="0"/>
          </a:p>
        </p:txBody>
      </p:sp>
      <p:sp>
        <p:nvSpPr>
          <p:cNvPr id="71" name="Shape 63"/>
          <p:cNvSpPr/>
          <p:nvPr/>
        </p:nvSpPr>
        <p:spPr>
          <a:xfrm>
            <a:off x="10492740" y="5074920"/>
            <a:ext cx="1600200" cy="713232"/>
          </a:xfrm>
          <a:prstGeom prst="roundRect">
            <a:avLst>
              <a:gd name="adj" fmla="val 10256"/>
            </a:avLst>
          </a:prstGeom>
          <a:solidFill>
            <a:srgbClr val="6E767D"/>
          </a:solidFill>
          <a:ln/>
          <a:effectLst>
            <a:outerShdw blurRad="88900" dist="38100" dir="5400000" algn="bl" rotWithShape="0">
              <a:srgbClr val="2B3036">
                <a:alpha val="18000"/>
              </a:srgbClr>
            </a:outerShdw>
          </a:effectLst>
        </p:spPr>
        <p:txBody>
          <a:bodyPr/>
          <a:lstStyle/>
          <a:p>
            <a:endParaRPr lang="en-US"/>
          </a:p>
        </p:txBody>
      </p:sp>
      <p:sp>
        <p:nvSpPr>
          <p:cNvPr id="72" name="Text 64"/>
          <p:cNvSpPr/>
          <p:nvPr/>
        </p:nvSpPr>
        <p:spPr>
          <a:xfrm>
            <a:off x="10538460" y="5074920"/>
            <a:ext cx="1508760" cy="713232"/>
          </a:xfrm>
          <a:prstGeom prst="rect">
            <a:avLst/>
          </a:prstGeom>
          <a:noFill/>
          <a:ln/>
        </p:spPr>
        <p:txBody>
          <a:bodyPr wrap="square" rtlCol="0" anchor="ctr"/>
          <a:lstStyle/>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11  Receive CRS</a:t>
            </a:r>
            <a:endParaRPr lang="en-US" sz="850" dirty="0"/>
          </a:p>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Information</a:t>
            </a:r>
            <a:endParaRPr lang="en-US" sz="850" dirty="0"/>
          </a:p>
        </p:txBody>
      </p:sp>
      <p:sp>
        <p:nvSpPr>
          <p:cNvPr id="73" name="Shape 65"/>
          <p:cNvSpPr/>
          <p:nvPr/>
        </p:nvSpPr>
        <p:spPr>
          <a:xfrm>
            <a:off x="9624060" y="5129784"/>
            <a:ext cx="603504" cy="603504"/>
          </a:xfrm>
          <a:prstGeom prst="ellipse">
            <a:avLst/>
          </a:prstGeom>
          <a:solidFill>
            <a:srgbClr val="3F464C"/>
          </a:solidFill>
          <a:ln w="33020">
            <a:solidFill>
              <a:srgbClr val="C8102E"/>
            </a:solidFill>
            <a:prstDash val="solid"/>
          </a:ln>
          <a:effectLst>
            <a:outerShdw blurRad="88900" dist="38100" dir="5400000" algn="bl" rotWithShape="0">
              <a:srgbClr val="2B3036">
                <a:alpha val="18000"/>
              </a:srgbClr>
            </a:outerShdw>
          </a:effectLst>
        </p:spPr>
        <p:txBody>
          <a:bodyPr/>
          <a:lstStyle/>
          <a:p>
            <a:endParaRPr lang="en-US"/>
          </a:p>
        </p:txBody>
      </p:sp>
      <p:pic>
        <p:nvPicPr>
          <p:cNvPr id="74" name="Image 6" descr="preencoded.png"/>
          <p:cNvPicPr>
            <a:picLocks noChangeAspect="1"/>
          </p:cNvPicPr>
          <p:nvPr/>
        </p:nvPicPr>
        <p:blipFill>
          <a:blip r:embed="rId9"/>
          <a:stretch>
            <a:fillRect/>
          </a:stretch>
        </p:blipFill>
        <p:spPr>
          <a:xfrm>
            <a:off x="9770364" y="5276088"/>
            <a:ext cx="310896" cy="310896"/>
          </a:xfrm>
          <a:prstGeom prst="rect">
            <a:avLst/>
          </a:prstGeom>
        </p:spPr>
      </p:pic>
      <p:sp>
        <p:nvSpPr>
          <p:cNvPr id="75" name="Shape 66"/>
          <p:cNvSpPr/>
          <p:nvPr/>
        </p:nvSpPr>
        <p:spPr>
          <a:xfrm>
            <a:off x="10492740" y="5431536"/>
            <a:ext cx="0" cy="0"/>
          </a:xfrm>
          <a:prstGeom prst="line">
            <a:avLst/>
          </a:prstGeom>
          <a:noFill/>
          <a:ln w="28575">
            <a:solidFill>
              <a:srgbClr val="3F464C"/>
            </a:solidFill>
            <a:prstDash val="solid"/>
            <a:tailEnd type="triangle"/>
          </a:ln>
        </p:spPr>
        <p:txBody>
          <a:bodyPr/>
          <a:lstStyle/>
          <a:p>
            <a:endParaRPr lang="en-US"/>
          </a:p>
        </p:txBody>
      </p:sp>
      <p:sp>
        <p:nvSpPr>
          <p:cNvPr id="76" name="Shape 67"/>
          <p:cNvSpPr/>
          <p:nvPr/>
        </p:nvSpPr>
        <p:spPr>
          <a:xfrm>
            <a:off x="502920" y="6199632"/>
            <a:ext cx="237744" cy="237744"/>
          </a:xfrm>
          <a:prstGeom prst="roundRect">
            <a:avLst>
              <a:gd name="adj" fmla="val 15385"/>
            </a:avLst>
          </a:prstGeom>
          <a:solidFill>
            <a:srgbClr val="3F464C"/>
          </a:solidFill>
          <a:ln/>
        </p:spPr>
        <p:txBody>
          <a:bodyPr/>
          <a:lstStyle/>
          <a:p>
            <a:endParaRPr lang="en-US"/>
          </a:p>
        </p:txBody>
      </p:sp>
      <p:sp>
        <p:nvSpPr>
          <p:cNvPr id="77" name="Text 68"/>
          <p:cNvSpPr/>
          <p:nvPr/>
        </p:nvSpPr>
        <p:spPr>
          <a:xfrm>
            <a:off x="80467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Start / success</a:t>
            </a:r>
            <a:endParaRPr lang="en-US" sz="950" dirty="0"/>
          </a:p>
        </p:txBody>
      </p:sp>
      <p:sp>
        <p:nvSpPr>
          <p:cNvPr id="78" name="Shape 69"/>
          <p:cNvSpPr/>
          <p:nvPr/>
        </p:nvSpPr>
        <p:spPr>
          <a:xfrm>
            <a:off x="2468880" y="6199632"/>
            <a:ext cx="237744" cy="237744"/>
          </a:xfrm>
          <a:prstGeom prst="roundRect">
            <a:avLst>
              <a:gd name="adj" fmla="val 15385"/>
            </a:avLst>
          </a:prstGeom>
          <a:solidFill>
            <a:srgbClr val="C8102E"/>
          </a:solidFill>
          <a:ln/>
        </p:spPr>
        <p:txBody>
          <a:bodyPr/>
          <a:lstStyle/>
          <a:p>
            <a:endParaRPr lang="en-US"/>
          </a:p>
        </p:txBody>
      </p:sp>
      <p:sp>
        <p:nvSpPr>
          <p:cNvPr id="79" name="Text 70"/>
          <p:cNvSpPr/>
          <p:nvPr/>
        </p:nvSpPr>
        <p:spPr>
          <a:xfrm>
            <a:off x="277063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Error / loop</a:t>
            </a:r>
            <a:endParaRPr lang="en-US" sz="950" dirty="0"/>
          </a:p>
        </p:txBody>
      </p:sp>
      <p:sp>
        <p:nvSpPr>
          <p:cNvPr id="80" name="Shape 71"/>
          <p:cNvSpPr/>
          <p:nvPr/>
        </p:nvSpPr>
        <p:spPr>
          <a:xfrm>
            <a:off x="4434840" y="6199632"/>
            <a:ext cx="237744" cy="237744"/>
          </a:xfrm>
          <a:prstGeom prst="roundRect">
            <a:avLst>
              <a:gd name="adj" fmla="val 15385"/>
            </a:avLst>
          </a:prstGeom>
          <a:solidFill>
            <a:srgbClr val="6E767D"/>
          </a:solidFill>
          <a:ln/>
        </p:spPr>
        <p:txBody>
          <a:bodyPr/>
          <a:lstStyle/>
          <a:p>
            <a:endParaRPr lang="en-US"/>
          </a:p>
        </p:txBody>
      </p:sp>
      <p:sp>
        <p:nvSpPr>
          <p:cNvPr id="81" name="Text 72"/>
          <p:cNvSpPr/>
          <p:nvPr/>
        </p:nvSpPr>
        <p:spPr>
          <a:xfrm>
            <a:off x="473659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CRS Unit task</a:t>
            </a:r>
            <a:endParaRPr lang="en-US" sz="950" dirty="0"/>
          </a:p>
        </p:txBody>
      </p:sp>
      <p:sp>
        <p:nvSpPr>
          <p:cNvPr id="82" name="Shape 73"/>
          <p:cNvSpPr/>
          <p:nvPr/>
        </p:nvSpPr>
        <p:spPr>
          <a:xfrm>
            <a:off x="6400800" y="6199632"/>
            <a:ext cx="237744" cy="237744"/>
          </a:xfrm>
          <a:prstGeom prst="roundRect">
            <a:avLst>
              <a:gd name="adj" fmla="val 15385"/>
            </a:avLst>
          </a:prstGeom>
          <a:solidFill>
            <a:srgbClr val="9AA1A7"/>
          </a:solidFill>
          <a:ln/>
        </p:spPr>
        <p:txBody>
          <a:bodyPr/>
          <a:lstStyle/>
          <a:p>
            <a:endParaRPr lang="en-US"/>
          </a:p>
        </p:txBody>
      </p:sp>
      <p:sp>
        <p:nvSpPr>
          <p:cNvPr id="83" name="Text 74"/>
          <p:cNvSpPr/>
          <p:nvPr/>
        </p:nvSpPr>
        <p:spPr>
          <a:xfrm>
            <a:off x="670255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RFI task</a:t>
            </a:r>
            <a:endParaRPr lang="en-US" sz="950" dirty="0"/>
          </a:p>
        </p:txBody>
      </p:sp>
      <p:sp>
        <p:nvSpPr>
          <p:cNvPr id="84" name="Shape 75"/>
          <p:cNvSpPr/>
          <p:nvPr/>
        </p:nvSpPr>
        <p:spPr>
          <a:xfrm>
            <a:off x="8366760" y="6190488"/>
            <a:ext cx="237744" cy="237744"/>
          </a:xfrm>
          <a:prstGeom prst="diamond">
            <a:avLst/>
          </a:prstGeom>
          <a:solidFill>
            <a:srgbClr val="C8102E"/>
          </a:solidFill>
          <a:ln/>
        </p:spPr>
        <p:txBody>
          <a:bodyPr/>
          <a:lstStyle/>
          <a:p>
            <a:endParaRPr lang="en-US"/>
          </a:p>
        </p:txBody>
      </p:sp>
      <p:sp>
        <p:nvSpPr>
          <p:cNvPr id="85" name="Text 76"/>
          <p:cNvSpPr/>
          <p:nvPr/>
        </p:nvSpPr>
        <p:spPr>
          <a:xfrm>
            <a:off x="866851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XOR gateway</a:t>
            </a:r>
            <a:endParaRPr lang="en-US" sz="950" dirty="0"/>
          </a:p>
        </p:txBody>
      </p:sp>
      <p:sp>
        <p:nvSpPr>
          <p:cNvPr id="86" name="Shape 55">
            <a:extLst>
              <a:ext uri="{FF2B5EF4-FFF2-40B4-BE49-F238E27FC236}">
                <a16:creationId xmlns:a16="http://schemas.microsoft.com/office/drawing/2014/main" id="{9A1DE61F-EAF8-0335-02BE-22F76B276249}"/>
              </a:ext>
            </a:extLst>
          </p:cNvPr>
          <p:cNvSpPr/>
          <p:nvPr/>
        </p:nvSpPr>
        <p:spPr>
          <a:xfrm flipH="1" flipV="1">
            <a:off x="5330953" y="1726403"/>
            <a:ext cx="18287" cy="1597143"/>
          </a:xfrm>
          <a:prstGeom prst="line">
            <a:avLst/>
          </a:prstGeom>
          <a:noFill/>
          <a:ln w="28575">
            <a:solidFill>
              <a:srgbClr val="C8102E"/>
            </a:solidFill>
            <a:prstDash val="dash"/>
            <a:tailEnd type="triangle"/>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114407" y="320040"/>
            <a:ext cx="1617345" cy="457200"/>
          </a:xfrm>
          <a:prstGeom prst="rect">
            <a:avLst/>
          </a:prstGeom>
        </p:spPr>
      </p:pic>
      <p:sp>
        <p:nvSpPr>
          <p:cNvPr id="3" name="Text 0"/>
          <p:cNvSpPr/>
          <p:nvPr/>
        </p:nvSpPr>
        <p:spPr>
          <a:xfrm>
            <a:off x="457200" y="256032"/>
            <a:ext cx="8686800" cy="457200"/>
          </a:xfrm>
          <a:prstGeom prst="rect">
            <a:avLst/>
          </a:prstGeom>
          <a:noFill/>
          <a:ln/>
        </p:spPr>
        <p:txBody>
          <a:bodyPr wrap="square" rtlCol="0" anchor="ctr"/>
          <a:lstStyle/>
          <a:p>
            <a:pPr marL="0" indent="0">
              <a:buNone/>
            </a:pPr>
            <a:r>
              <a:rPr lang="en-US" sz="2400" b="1" dirty="0">
                <a:solidFill>
                  <a:srgbClr val="3F464C"/>
                </a:solidFill>
                <a:latin typeface="Tahoma" pitchFamily="34" charset="0"/>
                <a:ea typeface="Tahoma" pitchFamily="34" charset="-122"/>
                <a:cs typeface="Tahoma" pitchFamily="34" charset="-120"/>
              </a:rPr>
              <a:t>Incoming Flow — End-to-End BPMN</a:t>
            </a:r>
            <a:endParaRPr lang="en-US" sz="2400" dirty="0"/>
          </a:p>
        </p:txBody>
      </p:sp>
      <p:sp>
        <p:nvSpPr>
          <p:cNvPr id="4" name="Text 1"/>
          <p:cNvSpPr/>
          <p:nvPr/>
        </p:nvSpPr>
        <p:spPr>
          <a:xfrm>
            <a:off x="475488" y="749808"/>
            <a:ext cx="10058400" cy="292608"/>
          </a:xfrm>
          <a:prstGeom prst="rect">
            <a:avLst/>
          </a:prstGeom>
          <a:noFill/>
          <a:ln/>
        </p:spPr>
        <p:txBody>
          <a:bodyPr wrap="square" rtlCol="0" anchor="ctr"/>
          <a:lstStyle/>
          <a:p>
            <a:pPr marL="0" indent="0">
              <a:buNone/>
            </a:pPr>
            <a:r>
              <a:rPr lang="en-US" sz="1200" dirty="0">
                <a:solidFill>
                  <a:srgbClr val="6E767D"/>
                </a:solidFill>
                <a:latin typeface="Tahoma" pitchFamily="34" charset="0"/>
                <a:ea typeface="Tahoma" pitchFamily="34" charset="-122"/>
                <a:cs typeface="Tahoma" pitchFamily="34" charset="-120"/>
              </a:rPr>
              <a:t>Receiving CRS data via CTS, validating it, remediating through DocRefID, and disseminating to tax authorities.</a:t>
            </a:r>
            <a:endParaRPr lang="en-US" sz="1200" dirty="0"/>
          </a:p>
        </p:txBody>
      </p:sp>
      <p:sp>
        <p:nvSpPr>
          <p:cNvPr id="5" name="Shape 2"/>
          <p:cNvSpPr/>
          <p:nvPr/>
        </p:nvSpPr>
        <p:spPr>
          <a:xfrm>
            <a:off x="1691640" y="1170432"/>
            <a:ext cx="11384280" cy="1417320"/>
          </a:xfrm>
          <a:prstGeom prst="roundRect">
            <a:avLst>
              <a:gd name="adj" fmla="val 3871"/>
            </a:avLst>
          </a:prstGeom>
          <a:solidFill>
            <a:srgbClr val="FFFFFF"/>
          </a:solidFill>
          <a:ln/>
        </p:spPr>
        <p:txBody>
          <a:bodyPr/>
          <a:lstStyle/>
          <a:p>
            <a:endParaRPr lang="en-US"/>
          </a:p>
        </p:txBody>
      </p:sp>
      <p:sp>
        <p:nvSpPr>
          <p:cNvPr id="6" name="Shape 3"/>
          <p:cNvSpPr/>
          <p:nvPr/>
        </p:nvSpPr>
        <p:spPr>
          <a:xfrm>
            <a:off x="457200" y="1170432"/>
            <a:ext cx="1188720" cy="1417320"/>
          </a:xfrm>
          <a:prstGeom prst="roundRect">
            <a:avLst>
              <a:gd name="adj" fmla="val 4615"/>
            </a:avLst>
          </a:prstGeom>
          <a:solidFill>
            <a:srgbClr val="6E767D"/>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850392" y="1403604"/>
            <a:ext cx="402336" cy="402336"/>
          </a:xfrm>
          <a:prstGeom prst="rect">
            <a:avLst/>
          </a:prstGeom>
        </p:spPr>
      </p:pic>
      <p:sp>
        <p:nvSpPr>
          <p:cNvPr id="8" name="Text 4"/>
          <p:cNvSpPr/>
          <p:nvPr/>
        </p:nvSpPr>
        <p:spPr>
          <a:xfrm>
            <a:off x="484632" y="1897380"/>
            <a:ext cx="1133856" cy="640080"/>
          </a:xfrm>
          <a:prstGeom prst="rect">
            <a:avLst/>
          </a:prstGeom>
          <a:noFill/>
          <a:ln/>
        </p:spPr>
        <p:txBody>
          <a:bodyPr wrap="square" rtlCol="0" anchor="t"/>
          <a:lstStyle/>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Participating</a:t>
            </a:r>
            <a:endParaRPr lang="en-US" sz="1000" dirty="0"/>
          </a:p>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Jurisdiction</a:t>
            </a:r>
            <a:endParaRPr lang="en-US" sz="1000" dirty="0"/>
          </a:p>
        </p:txBody>
      </p:sp>
      <p:sp>
        <p:nvSpPr>
          <p:cNvPr id="9" name="Shape 5"/>
          <p:cNvSpPr/>
          <p:nvPr/>
        </p:nvSpPr>
        <p:spPr>
          <a:xfrm>
            <a:off x="1691640" y="2660904"/>
            <a:ext cx="11384280" cy="2103120"/>
          </a:xfrm>
          <a:prstGeom prst="roundRect">
            <a:avLst>
              <a:gd name="adj" fmla="val 2609"/>
            </a:avLst>
          </a:prstGeom>
          <a:solidFill>
            <a:srgbClr val="FFFFFF"/>
          </a:solidFill>
          <a:ln/>
        </p:spPr>
        <p:txBody>
          <a:bodyPr/>
          <a:lstStyle/>
          <a:p>
            <a:endParaRPr lang="en-US"/>
          </a:p>
        </p:txBody>
      </p:sp>
      <p:sp>
        <p:nvSpPr>
          <p:cNvPr id="10" name="Shape 6"/>
          <p:cNvSpPr/>
          <p:nvPr/>
        </p:nvSpPr>
        <p:spPr>
          <a:xfrm>
            <a:off x="457200" y="2660904"/>
            <a:ext cx="1188720" cy="2103120"/>
          </a:xfrm>
          <a:prstGeom prst="roundRect">
            <a:avLst>
              <a:gd name="adj" fmla="val 4615"/>
            </a:avLst>
          </a:prstGeom>
          <a:solidFill>
            <a:srgbClr val="C8102E"/>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850392" y="3236976"/>
            <a:ext cx="402336" cy="402336"/>
          </a:xfrm>
          <a:prstGeom prst="rect">
            <a:avLst/>
          </a:prstGeom>
        </p:spPr>
      </p:pic>
      <p:sp>
        <p:nvSpPr>
          <p:cNvPr id="12" name="Text 7"/>
          <p:cNvSpPr/>
          <p:nvPr/>
        </p:nvSpPr>
        <p:spPr>
          <a:xfrm>
            <a:off x="484632" y="3730752"/>
            <a:ext cx="1133856" cy="640080"/>
          </a:xfrm>
          <a:prstGeom prst="rect">
            <a:avLst/>
          </a:prstGeom>
          <a:noFill/>
          <a:ln/>
        </p:spPr>
        <p:txBody>
          <a:bodyPr wrap="square" rtlCol="0" anchor="t"/>
          <a:lstStyle/>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CRS Unit</a:t>
            </a:r>
            <a:endParaRPr lang="en-US" sz="1000" dirty="0"/>
          </a:p>
        </p:txBody>
      </p:sp>
      <p:sp>
        <p:nvSpPr>
          <p:cNvPr id="13" name="Shape 8"/>
          <p:cNvSpPr/>
          <p:nvPr/>
        </p:nvSpPr>
        <p:spPr>
          <a:xfrm>
            <a:off x="1691640" y="4837176"/>
            <a:ext cx="11384280" cy="1188720"/>
          </a:xfrm>
          <a:prstGeom prst="roundRect">
            <a:avLst>
              <a:gd name="adj" fmla="val 4615"/>
            </a:avLst>
          </a:prstGeom>
          <a:solidFill>
            <a:srgbClr val="FFFFFF"/>
          </a:solidFill>
          <a:ln/>
        </p:spPr>
        <p:txBody>
          <a:bodyPr/>
          <a:lstStyle/>
          <a:p>
            <a:endParaRPr lang="en-US"/>
          </a:p>
        </p:txBody>
      </p:sp>
      <p:sp>
        <p:nvSpPr>
          <p:cNvPr id="14" name="Shape 9"/>
          <p:cNvSpPr/>
          <p:nvPr/>
        </p:nvSpPr>
        <p:spPr>
          <a:xfrm>
            <a:off x="457200" y="4837176"/>
            <a:ext cx="1188720" cy="1188720"/>
          </a:xfrm>
          <a:prstGeom prst="roundRect">
            <a:avLst>
              <a:gd name="adj" fmla="val 4615"/>
            </a:avLst>
          </a:prstGeom>
          <a:solidFill>
            <a:srgbClr val="3F464C"/>
          </a:solidFill>
          <a:ln/>
        </p:spPr>
        <p:txBody>
          <a:bodyPr/>
          <a:lstStyle/>
          <a:p>
            <a:endParaRPr lang="en-US"/>
          </a:p>
        </p:txBody>
      </p:sp>
      <p:pic>
        <p:nvPicPr>
          <p:cNvPr id="15" name="Image 3" descr="preencoded.png"/>
          <p:cNvPicPr>
            <a:picLocks noChangeAspect="1"/>
          </p:cNvPicPr>
          <p:nvPr/>
        </p:nvPicPr>
        <p:blipFill>
          <a:blip r:embed="rId6"/>
          <a:stretch>
            <a:fillRect/>
          </a:stretch>
        </p:blipFill>
        <p:spPr>
          <a:xfrm>
            <a:off x="850392" y="4956048"/>
            <a:ext cx="402336" cy="402336"/>
          </a:xfrm>
          <a:prstGeom prst="rect">
            <a:avLst/>
          </a:prstGeom>
        </p:spPr>
      </p:pic>
      <p:sp>
        <p:nvSpPr>
          <p:cNvPr id="16" name="Text 10"/>
          <p:cNvSpPr/>
          <p:nvPr/>
        </p:nvSpPr>
        <p:spPr>
          <a:xfrm>
            <a:off x="484632" y="5449824"/>
            <a:ext cx="1133856" cy="640080"/>
          </a:xfrm>
          <a:prstGeom prst="rect">
            <a:avLst/>
          </a:prstGeom>
          <a:noFill/>
          <a:ln/>
        </p:spPr>
        <p:txBody>
          <a:bodyPr wrap="square" rtlCol="0" anchor="t"/>
          <a:lstStyle/>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Relevant Tax</a:t>
            </a:r>
            <a:endParaRPr lang="en-US" sz="1000" dirty="0"/>
          </a:p>
          <a:p>
            <a:pPr marL="0" indent="0" algn="ctr">
              <a:lnSpc>
                <a:spcPts val="1200"/>
              </a:lnSpc>
              <a:buNone/>
            </a:pPr>
            <a:r>
              <a:rPr lang="en-US" sz="1000" b="1" dirty="0">
                <a:solidFill>
                  <a:srgbClr val="FFFFFF"/>
                </a:solidFill>
                <a:latin typeface="Tahoma" pitchFamily="34" charset="0"/>
                <a:ea typeface="Tahoma" pitchFamily="34" charset="-122"/>
                <a:cs typeface="Tahoma" pitchFamily="34" charset="-120"/>
              </a:rPr>
              <a:t>Authorities</a:t>
            </a:r>
            <a:endParaRPr lang="en-US" sz="1000" dirty="0"/>
          </a:p>
        </p:txBody>
      </p:sp>
      <p:sp>
        <p:nvSpPr>
          <p:cNvPr id="17" name="Shape 11"/>
          <p:cNvSpPr/>
          <p:nvPr/>
        </p:nvSpPr>
        <p:spPr>
          <a:xfrm>
            <a:off x="1847088" y="1577340"/>
            <a:ext cx="603504" cy="603504"/>
          </a:xfrm>
          <a:prstGeom prst="ellipse">
            <a:avLst/>
          </a:prstGeom>
          <a:solidFill>
            <a:srgbClr val="3F464C"/>
          </a:solidFill>
          <a:ln/>
          <a:effectLst>
            <a:outerShdw blurRad="88900" dist="38100" dir="5400000" algn="bl" rotWithShape="0">
              <a:srgbClr val="2B3036">
                <a:alpha val="18000"/>
              </a:srgbClr>
            </a:outerShdw>
          </a:effectLst>
        </p:spPr>
        <p:txBody>
          <a:bodyPr/>
          <a:lstStyle/>
          <a:p>
            <a:endParaRPr lang="en-US"/>
          </a:p>
        </p:txBody>
      </p:sp>
      <p:pic>
        <p:nvPicPr>
          <p:cNvPr id="18" name="Image 4" descr="preencoded.png"/>
          <p:cNvPicPr>
            <a:picLocks noChangeAspect="1"/>
          </p:cNvPicPr>
          <p:nvPr/>
        </p:nvPicPr>
        <p:blipFill>
          <a:blip r:embed="rId7"/>
          <a:stretch>
            <a:fillRect/>
          </a:stretch>
        </p:blipFill>
        <p:spPr>
          <a:xfrm>
            <a:off x="1993392" y="1723644"/>
            <a:ext cx="310896" cy="310896"/>
          </a:xfrm>
          <a:prstGeom prst="rect">
            <a:avLst/>
          </a:prstGeom>
        </p:spPr>
      </p:pic>
      <p:sp>
        <p:nvSpPr>
          <p:cNvPr id="19" name="Shape 12"/>
          <p:cNvSpPr/>
          <p:nvPr/>
        </p:nvSpPr>
        <p:spPr>
          <a:xfrm>
            <a:off x="2148840" y="2180844"/>
            <a:ext cx="0" cy="857250"/>
          </a:xfrm>
          <a:prstGeom prst="line">
            <a:avLst/>
          </a:prstGeom>
          <a:noFill/>
          <a:ln w="28575">
            <a:solidFill>
              <a:srgbClr val="3F464C"/>
            </a:solidFill>
            <a:prstDash val="solid"/>
          </a:ln>
        </p:spPr>
        <p:txBody>
          <a:bodyPr/>
          <a:lstStyle/>
          <a:p>
            <a:endParaRPr lang="en-US"/>
          </a:p>
        </p:txBody>
      </p:sp>
      <p:sp>
        <p:nvSpPr>
          <p:cNvPr id="20" name="Shape 13"/>
          <p:cNvSpPr/>
          <p:nvPr/>
        </p:nvSpPr>
        <p:spPr>
          <a:xfrm>
            <a:off x="2148840" y="3038094"/>
            <a:ext cx="1143000" cy="0"/>
          </a:xfrm>
          <a:prstGeom prst="line">
            <a:avLst/>
          </a:prstGeom>
          <a:noFill/>
          <a:ln w="28575">
            <a:solidFill>
              <a:srgbClr val="3F464C"/>
            </a:solidFill>
            <a:prstDash val="solid"/>
          </a:ln>
        </p:spPr>
        <p:txBody>
          <a:bodyPr/>
          <a:lstStyle/>
          <a:p>
            <a:endParaRPr lang="en-US"/>
          </a:p>
        </p:txBody>
      </p:sp>
      <p:sp>
        <p:nvSpPr>
          <p:cNvPr id="21" name="Shape 14"/>
          <p:cNvSpPr/>
          <p:nvPr/>
        </p:nvSpPr>
        <p:spPr>
          <a:xfrm>
            <a:off x="3291840" y="3038094"/>
            <a:ext cx="0" cy="802386"/>
          </a:xfrm>
          <a:prstGeom prst="line">
            <a:avLst/>
          </a:prstGeom>
          <a:noFill/>
          <a:ln w="28575">
            <a:solidFill>
              <a:srgbClr val="3F464C"/>
            </a:solidFill>
            <a:prstDash val="solid"/>
            <a:tailEnd type="triangle"/>
          </a:ln>
        </p:spPr>
        <p:txBody>
          <a:bodyPr/>
          <a:lstStyle/>
          <a:p>
            <a:endParaRPr lang="en-US"/>
          </a:p>
        </p:txBody>
      </p:sp>
      <p:sp>
        <p:nvSpPr>
          <p:cNvPr id="22" name="Shape 15"/>
          <p:cNvSpPr/>
          <p:nvPr/>
        </p:nvSpPr>
        <p:spPr>
          <a:xfrm>
            <a:off x="2583180" y="3840480"/>
            <a:ext cx="1417320" cy="713232"/>
          </a:xfrm>
          <a:prstGeom prst="roundRect">
            <a:avLst>
              <a:gd name="adj" fmla="val 10256"/>
            </a:avLst>
          </a:prstGeom>
          <a:solidFill>
            <a:srgbClr val="9AA1A7"/>
          </a:solidFill>
          <a:ln/>
          <a:effectLst>
            <a:outerShdw blurRad="88900" dist="38100" dir="5400000" algn="bl" rotWithShape="0">
              <a:srgbClr val="2B3036">
                <a:alpha val="18000"/>
              </a:srgbClr>
            </a:outerShdw>
          </a:effectLst>
        </p:spPr>
        <p:txBody>
          <a:bodyPr/>
          <a:lstStyle/>
          <a:p>
            <a:endParaRPr lang="en-US"/>
          </a:p>
        </p:txBody>
      </p:sp>
      <p:sp>
        <p:nvSpPr>
          <p:cNvPr id="23" name="Text 16"/>
          <p:cNvSpPr/>
          <p:nvPr/>
        </p:nvSpPr>
        <p:spPr>
          <a:xfrm>
            <a:off x="2628900" y="3840480"/>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Receive Data</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via CTS</a:t>
            </a:r>
            <a:endParaRPr lang="en-US" sz="900" dirty="0"/>
          </a:p>
        </p:txBody>
      </p:sp>
      <p:sp>
        <p:nvSpPr>
          <p:cNvPr id="24" name="Text 17"/>
          <p:cNvSpPr/>
          <p:nvPr/>
        </p:nvSpPr>
        <p:spPr>
          <a:xfrm>
            <a:off x="3337560" y="3019806"/>
            <a:ext cx="640080" cy="219456"/>
          </a:xfrm>
          <a:prstGeom prst="rect">
            <a:avLst/>
          </a:prstGeom>
          <a:noFill/>
          <a:ln/>
        </p:spPr>
        <p:txBody>
          <a:bodyPr wrap="square" rtlCol="0" anchor="ctr"/>
          <a:lstStyle/>
          <a:p>
            <a:pPr marL="0" indent="0" algn="l">
              <a:buNone/>
            </a:pPr>
            <a:r>
              <a:rPr lang="en-US" sz="800" b="1" i="1" dirty="0">
                <a:solidFill>
                  <a:srgbClr val="3F464C"/>
                </a:solidFill>
                <a:latin typeface="Tahoma" pitchFamily="34" charset="0"/>
                <a:ea typeface="Tahoma" pitchFamily="34" charset="-122"/>
                <a:cs typeface="Tahoma" pitchFamily="34" charset="-120"/>
              </a:rPr>
              <a:t>CTS</a:t>
            </a:r>
            <a:endParaRPr lang="en-US" sz="800" dirty="0"/>
          </a:p>
        </p:txBody>
      </p:sp>
      <p:sp>
        <p:nvSpPr>
          <p:cNvPr id="25" name="Shape 18"/>
          <p:cNvSpPr/>
          <p:nvPr/>
        </p:nvSpPr>
        <p:spPr>
          <a:xfrm>
            <a:off x="4000500" y="4197096"/>
            <a:ext cx="0" cy="0"/>
          </a:xfrm>
          <a:prstGeom prst="line">
            <a:avLst/>
          </a:prstGeom>
          <a:noFill/>
          <a:ln w="28575">
            <a:solidFill>
              <a:srgbClr val="9AA1A7"/>
            </a:solidFill>
            <a:prstDash val="solid"/>
            <a:tailEnd type="triangle"/>
          </a:ln>
        </p:spPr>
        <p:txBody>
          <a:bodyPr/>
          <a:lstStyle/>
          <a:p>
            <a:endParaRPr lang="en-US"/>
          </a:p>
        </p:txBody>
      </p:sp>
      <p:sp>
        <p:nvSpPr>
          <p:cNvPr id="26" name="Shape 19"/>
          <p:cNvSpPr/>
          <p:nvPr/>
        </p:nvSpPr>
        <p:spPr>
          <a:xfrm>
            <a:off x="3909060" y="3840480"/>
            <a:ext cx="1417320" cy="713232"/>
          </a:xfrm>
          <a:prstGeom prst="roundRect">
            <a:avLst>
              <a:gd name="adj" fmla="val 10256"/>
            </a:avLst>
          </a:prstGeom>
          <a:solidFill>
            <a:srgbClr val="6E767D"/>
          </a:solidFill>
          <a:ln/>
          <a:effectLst>
            <a:outerShdw blurRad="88900" dist="38100" dir="5400000" algn="bl" rotWithShape="0">
              <a:srgbClr val="2B3036">
                <a:alpha val="18000"/>
              </a:srgbClr>
            </a:outerShdw>
          </a:effectLst>
        </p:spPr>
        <p:txBody>
          <a:bodyPr/>
          <a:lstStyle/>
          <a:p>
            <a:endParaRPr lang="en-US"/>
          </a:p>
        </p:txBody>
      </p:sp>
      <p:sp>
        <p:nvSpPr>
          <p:cNvPr id="27" name="Text 20"/>
          <p:cNvSpPr/>
          <p:nvPr/>
        </p:nvSpPr>
        <p:spPr>
          <a:xfrm>
            <a:off x="3954780" y="3840480"/>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Validate Data</a:t>
            </a:r>
            <a:endParaRPr lang="en-US" sz="900" dirty="0"/>
          </a:p>
        </p:txBody>
      </p:sp>
      <p:sp>
        <p:nvSpPr>
          <p:cNvPr id="28" name="Shape 21"/>
          <p:cNvSpPr/>
          <p:nvPr/>
        </p:nvSpPr>
        <p:spPr>
          <a:xfrm>
            <a:off x="5326380" y="4197096"/>
            <a:ext cx="150876" cy="0"/>
          </a:xfrm>
          <a:prstGeom prst="line">
            <a:avLst/>
          </a:prstGeom>
          <a:noFill/>
          <a:ln w="28575">
            <a:solidFill>
              <a:srgbClr val="6E767D"/>
            </a:solidFill>
            <a:prstDash val="solid"/>
            <a:tailEnd type="triangle"/>
          </a:ln>
        </p:spPr>
        <p:txBody>
          <a:bodyPr/>
          <a:lstStyle/>
          <a:p>
            <a:endParaRPr lang="en-US"/>
          </a:p>
        </p:txBody>
      </p:sp>
      <p:sp>
        <p:nvSpPr>
          <p:cNvPr id="29" name="Shape 22"/>
          <p:cNvSpPr/>
          <p:nvPr/>
        </p:nvSpPr>
        <p:spPr>
          <a:xfrm>
            <a:off x="5477256" y="3867912"/>
            <a:ext cx="658368" cy="658368"/>
          </a:xfrm>
          <a:prstGeom prst="diamond">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30" name="Text 23"/>
          <p:cNvSpPr/>
          <p:nvPr/>
        </p:nvSpPr>
        <p:spPr>
          <a:xfrm>
            <a:off x="5477256" y="3867912"/>
            <a:ext cx="658368" cy="658368"/>
          </a:xfrm>
          <a:prstGeom prst="rect">
            <a:avLst/>
          </a:prstGeom>
          <a:noFill/>
          <a:ln/>
        </p:spPr>
        <p:txBody>
          <a:bodyPr wrap="square" rtlCol="0" anchor="ctr"/>
          <a:lstStyle/>
          <a:p>
            <a:pPr marL="0" indent="0" algn="ctr">
              <a:buNone/>
            </a:pPr>
            <a:r>
              <a:rPr lang="en-US" sz="1900" b="1" dirty="0">
                <a:solidFill>
                  <a:srgbClr val="FFFFFF"/>
                </a:solidFill>
                <a:latin typeface="Tahoma" pitchFamily="34" charset="0"/>
                <a:ea typeface="Tahoma" pitchFamily="34" charset="-122"/>
                <a:cs typeface="Tahoma" pitchFamily="34" charset="-120"/>
              </a:rPr>
              <a:t>?</a:t>
            </a:r>
            <a:endParaRPr lang="en-US" sz="1900" dirty="0"/>
          </a:p>
        </p:txBody>
      </p:sp>
      <p:sp>
        <p:nvSpPr>
          <p:cNvPr id="31" name="Text 24"/>
          <p:cNvSpPr/>
          <p:nvPr/>
        </p:nvSpPr>
        <p:spPr>
          <a:xfrm>
            <a:off x="4937760" y="3575304"/>
            <a:ext cx="1737360" cy="237744"/>
          </a:xfrm>
          <a:prstGeom prst="rect">
            <a:avLst/>
          </a:prstGeom>
          <a:noFill/>
          <a:ln/>
        </p:spPr>
        <p:txBody>
          <a:bodyPr wrap="square" rtlCol="0" anchor="ctr"/>
          <a:lstStyle/>
          <a:p>
            <a:pPr marL="0" indent="0" algn="ctr">
              <a:buNone/>
            </a:pPr>
            <a:r>
              <a:rPr lang="en-US" sz="900" b="1" dirty="0">
                <a:solidFill>
                  <a:srgbClr val="3F464C"/>
                </a:solidFill>
                <a:latin typeface="Tahoma" pitchFamily="34" charset="0"/>
                <a:ea typeface="Tahoma" pitchFamily="34" charset="-122"/>
                <a:cs typeface="Tahoma" pitchFamily="34" charset="-120"/>
              </a:rPr>
              <a:t>Data Valid?</a:t>
            </a:r>
            <a:endParaRPr lang="en-US" sz="900" dirty="0"/>
          </a:p>
        </p:txBody>
      </p:sp>
      <p:sp>
        <p:nvSpPr>
          <p:cNvPr id="32" name="Text 25"/>
          <p:cNvSpPr/>
          <p:nvPr/>
        </p:nvSpPr>
        <p:spPr>
          <a:xfrm>
            <a:off x="5422392" y="3300984"/>
            <a:ext cx="548640" cy="219456"/>
          </a:xfrm>
          <a:prstGeom prst="rect">
            <a:avLst/>
          </a:prstGeom>
          <a:noFill/>
          <a:ln/>
        </p:spPr>
        <p:txBody>
          <a:bodyPr wrap="square" rtlCol="0" anchor="ctr"/>
          <a:lstStyle/>
          <a:p>
            <a:pPr marL="0" indent="0" algn="l">
              <a:buNone/>
            </a:pPr>
            <a:r>
              <a:rPr lang="en-US" sz="900" b="1" dirty="0">
                <a:solidFill>
                  <a:srgbClr val="C8102E"/>
                </a:solidFill>
                <a:latin typeface="Tahoma" pitchFamily="34" charset="0"/>
                <a:ea typeface="Tahoma" pitchFamily="34" charset="-122"/>
                <a:cs typeface="Tahoma" pitchFamily="34" charset="-120"/>
              </a:rPr>
              <a:t>No</a:t>
            </a:r>
            <a:endParaRPr lang="en-US" sz="900" dirty="0"/>
          </a:p>
        </p:txBody>
      </p:sp>
      <p:sp>
        <p:nvSpPr>
          <p:cNvPr id="33" name="Shape 26"/>
          <p:cNvSpPr/>
          <p:nvPr/>
        </p:nvSpPr>
        <p:spPr>
          <a:xfrm>
            <a:off x="5806440" y="3867912"/>
            <a:ext cx="0" cy="0"/>
          </a:xfrm>
          <a:prstGeom prst="line">
            <a:avLst/>
          </a:prstGeom>
          <a:noFill/>
          <a:ln w="28575">
            <a:solidFill>
              <a:srgbClr val="C8102E"/>
            </a:solidFill>
            <a:prstDash val="solid"/>
          </a:ln>
        </p:spPr>
        <p:txBody>
          <a:bodyPr/>
          <a:lstStyle/>
          <a:p>
            <a:endParaRPr lang="en-US"/>
          </a:p>
        </p:txBody>
      </p:sp>
      <p:sp>
        <p:nvSpPr>
          <p:cNvPr id="34" name="Shape 27"/>
          <p:cNvSpPr/>
          <p:nvPr/>
        </p:nvSpPr>
        <p:spPr>
          <a:xfrm>
            <a:off x="5806440" y="3227832"/>
            <a:ext cx="571500" cy="0"/>
          </a:xfrm>
          <a:prstGeom prst="line">
            <a:avLst/>
          </a:prstGeom>
          <a:noFill/>
          <a:ln w="28575">
            <a:solidFill>
              <a:srgbClr val="C8102E"/>
            </a:solidFill>
            <a:prstDash val="solid"/>
            <a:tailEnd type="triangle"/>
          </a:ln>
        </p:spPr>
        <p:txBody>
          <a:bodyPr/>
          <a:lstStyle/>
          <a:p>
            <a:endParaRPr lang="en-US"/>
          </a:p>
        </p:txBody>
      </p:sp>
      <p:sp>
        <p:nvSpPr>
          <p:cNvPr id="35" name="Shape 28"/>
          <p:cNvSpPr/>
          <p:nvPr/>
        </p:nvSpPr>
        <p:spPr>
          <a:xfrm>
            <a:off x="6377940" y="2871216"/>
            <a:ext cx="1417320" cy="713232"/>
          </a:xfrm>
          <a:prstGeom prst="roundRect">
            <a:avLst>
              <a:gd name="adj" fmla="val 10256"/>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36" name="Text 29"/>
          <p:cNvSpPr/>
          <p:nvPr/>
        </p:nvSpPr>
        <p:spPr>
          <a:xfrm>
            <a:off x="6423660" y="2871216"/>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Notify PJ</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of Errors</a:t>
            </a:r>
            <a:endParaRPr lang="en-US" sz="900" dirty="0"/>
          </a:p>
        </p:txBody>
      </p:sp>
      <p:sp>
        <p:nvSpPr>
          <p:cNvPr id="37" name="Shape 30"/>
          <p:cNvSpPr/>
          <p:nvPr/>
        </p:nvSpPr>
        <p:spPr>
          <a:xfrm>
            <a:off x="7086600" y="2871216"/>
            <a:ext cx="0" cy="0"/>
          </a:xfrm>
          <a:prstGeom prst="line">
            <a:avLst/>
          </a:prstGeom>
          <a:noFill/>
          <a:ln w="28575">
            <a:solidFill>
              <a:srgbClr val="C8102E"/>
            </a:solidFill>
            <a:prstDash val="solid"/>
            <a:tailEnd type="triangle"/>
          </a:ln>
        </p:spPr>
        <p:txBody>
          <a:bodyPr/>
          <a:lstStyle/>
          <a:p>
            <a:endParaRPr lang="en-US"/>
          </a:p>
        </p:txBody>
      </p:sp>
      <p:sp>
        <p:nvSpPr>
          <p:cNvPr id="38" name="Shape 31"/>
          <p:cNvSpPr/>
          <p:nvPr/>
        </p:nvSpPr>
        <p:spPr>
          <a:xfrm>
            <a:off x="6217920" y="1522476"/>
            <a:ext cx="1737360" cy="713232"/>
          </a:xfrm>
          <a:prstGeom prst="roundRect">
            <a:avLst>
              <a:gd name="adj" fmla="val 10256"/>
            </a:avLst>
          </a:prstGeom>
          <a:solidFill>
            <a:srgbClr val="6E767D"/>
          </a:solidFill>
          <a:ln/>
          <a:effectLst>
            <a:outerShdw blurRad="88900" dist="38100" dir="5400000" algn="bl" rotWithShape="0">
              <a:srgbClr val="2B3036">
                <a:alpha val="18000"/>
              </a:srgbClr>
            </a:outerShdw>
          </a:effectLst>
        </p:spPr>
        <p:txBody>
          <a:bodyPr/>
          <a:lstStyle/>
          <a:p>
            <a:endParaRPr lang="en-US"/>
          </a:p>
        </p:txBody>
      </p:sp>
      <p:sp>
        <p:nvSpPr>
          <p:cNvPr id="39" name="Text 32"/>
          <p:cNvSpPr/>
          <p:nvPr/>
        </p:nvSpPr>
        <p:spPr>
          <a:xfrm>
            <a:off x="6263640" y="1522476"/>
            <a:ext cx="1645920" cy="713232"/>
          </a:xfrm>
          <a:prstGeom prst="rect">
            <a:avLst/>
          </a:prstGeom>
          <a:noFill/>
          <a:ln/>
        </p:spPr>
        <p:txBody>
          <a:bodyPr wrap="square" rtlCol="0" anchor="ctr"/>
          <a:lstStyle/>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Review &amp;</a:t>
            </a:r>
            <a:endParaRPr lang="en-US" sz="850" dirty="0"/>
          </a:p>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Amend (DocRefID)</a:t>
            </a:r>
            <a:endParaRPr lang="en-US" sz="850" dirty="0"/>
          </a:p>
        </p:txBody>
      </p:sp>
      <p:sp>
        <p:nvSpPr>
          <p:cNvPr id="40" name="Shape 33"/>
          <p:cNvSpPr/>
          <p:nvPr/>
        </p:nvSpPr>
        <p:spPr>
          <a:xfrm>
            <a:off x="7955280" y="1879092"/>
            <a:ext cx="411480" cy="0"/>
          </a:xfrm>
          <a:prstGeom prst="line">
            <a:avLst/>
          </a:prstGeom>
          <a:noFill/>
          <a:ln w="28575">
            <a:solidFill>
              <a:srgbClr val="C8102E"/>
            </a:solidFill>
            <a:prstDash val="solid"/>
          </a:ln>
        </p:spPr>
        <p:txBody>
          <a:bodyPr/>
          <a:lstStyle/>
          <a:p>
            <a:endParaRPr lang="en-US"/>
          </a:p>
        </p:txBody>
      </p:sp>
      <p:sp>
        <p:nvSpPr>
          <p:cNvPr id="41" name="Shape 34"/>
          <p:cNvSpPr/>
          <p:nvPr/>
        </p:nvSpPr>
        <p:spPr>
          <a:xfrm>
            <a:off x="8366760" y="2235708"/>
            <a:ext cx="0" cy="635508"/>
          </a:xfrm>
          <a:prstGeom prst="line">
            <a:avLst/>
          </a:prstGeom>
          <a:noFill/>
          <a:ln w="28575">
            <a:solidFill>
              <a:srgbClr val="C8102E"/>
            </a:solidFill>
            <a:prstDash val="dash"/>
            <a:tailEnd type="triangle"/>
          </a:ln>
        </p:spPr>
        <p:txBody>
          <a:bodyPr/>
          <a:lstStyle/>
          <a:p>
            <a:endParaRPr lang="en-US"/>
          </a:p>
        </p:txBody>
      </p:sp>
      <p:sp>
        <p:nvSpPr>
          <p:cNvPr id="42" name="Shape 35"/>
          <p:cNvSpPr/>
          <p:nvPr/>
        </p:nvSpPr>
        <p:spPr>
          <a:xfrm>
            <a:off x="7658100" y="2871216"/>
            <a:ext cx="1417320" cy="713232"/>
          </a:xfrm>
          <a:prstGeom prst="roundRect">
            <a:avLst>
              <a:gd name="adj" fmla="val 10256"/>
            </a:avLst>
          </a:prstGeom>
          <a:solidFill>
            <a:srgbClr val="C8102E"/>
          </a:solidFill>
          <a:ln/>
          <a:effectLst>
            <a:outerShdw blurRad="88900" dist="38100" dir="5400000" algn="bl" rotWithShape="0">
              <a:srgbClr val="2B3036">
                <a:alpha val="18000"/>
              </a:srgbClr>
            </a:outerShdw>
          </a:effectLst>
        </p:spPr>
        <p:txBody>
          <a:bodyPr/>
          <a:lstStyle/>
          <a:p>
            <a:endParaRPr lang="en-US"/>
          </a:p>
        </p:txBody>
      </p:sp>
      <p:sp>
        <p:nvSpPr>
          <p:cNvPr id="43" name="Text 36"/>
          <p:cNvSpPr/>
          <p:nvPr/>
        </p:nvSpPr>
        <p:spPr>
          <a:xfrm>
            <a:off x="7703820" y="2871216"/>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Revalidate</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Data</a:t>
            </a:r>
            <a:endParaRPr lang="en-US" sz="900" dirty="0"/>
          </a:p>
        </p:txBody>
      </p:sp>
      <p:sp>
        <p:nvSpPr>
          <p:cNvPr id="44" name="Text 37"/>
          <p:cNvSpPr/>
          <p:nvPr/>
        </p:nvSpPr>
        <p:spPr>
          <a:xfrm>
            <a:off x="8458200" y="2443734"/>
            <a:ext cx="1280160" cy="219456"/>
          </a:xfrm>
          <a:prstGeom prst="rect">
            <a:avLst/>
          </a:prstGeom>
          <a:noFill/>
          <a:ln/>
        </p:spPr>
        <p:txBody>
          <a:bodyPr wrap="square" rtlCol="0" anchor="ctr"/>
          <a:lstStyle/>
          <a:p>
            <a:pPr marL="0" indent="0" algn="l">
              <a:buNone/>
            </a:pPr>
            <a:r>
              <a:rPr lang="en-US" sz="800" b="1" i="1" dirty="0">
                <a:solidFill>
                  <a:srgbClr val="C8102E"/>
                </a:solidFill>
                <a:latin typeface="Tahoma" pitchFamily="34" charset="0"/>
                <a:ea typeface="Tahoma" pitchFamily="34" charset="-122"/>
                <a:cs typeface="Tahoma" pitchFamily="34" charset="-120"/>
              </a:rPr>
              <a:t>DocRefID loop</a:t>
            </a:r>
            <a:endParaRPr lang="en-US" sz="800" dirty="0"/>
          </a:p>
        </p:txBody>
      </p:sp>
      <p:sp>
        <p:nvSpPr>
          <p:cNvPr id="45" name="Shape 38"/>
          <p:cNvSpPr/>
          <p:nvPr/>
        </p:nvSpPr>
        <p:spPr>
          <a:xfrm>
            <a:off x="8366760" y="3584448"/>
            <a:ext cx="0" cy="128016"/>
          </a:xfrm>
          <a:prstGeom prst="line">
            <a:avLst/>
          </a:prstGeom>
          <a:noFill/>
          <a:ln w="28575">
            <a:solidFill>
              <a:srgbClr val="C8102E"/>
            </a:solidFill>
            <a:prstDash val="solid"/>
          </a:ln>
        </p:spPr>
        <p:txBody>
          <a:bodyPr/>
          <a:lstStyle/>
          <a:p>
            <a:endParaRPr lang="en-US"/>
          </a:p>
        </p:txBody>
      </p:sp>
      <p:sp>
        <p:nvSpPr>
          <p:cNvPr id="46" name="Shape 39"/>
          <p:cNvSpPr/>
          <p:nvPr/>
        </p:nvSpPr>
        <p:spPr>
          <a:xfrm>
            <a:off x="6309360" y="3712464"/>
            <a:ext cx="2057400" cy="0"/>
          </a:xfrm>
          <a:prstGeom prst="line">
            <a:avLst/>
          </a:prstGeom>
          <a:noFill/>
          <a:ln w="28575">
            <a:solidFill>
              <a:srgbClr val="C8102E"/>
            </a:solidFill>
            <a:prstDash val="solid"/>
          </a:ln>
        </p:spPr>
        <p:txBody>
          <a:bodyPr/>
          <a:lstStyle/>
          <a:p>
            <a:endParaRPr lang="en-US"/>
          </a:p>
        </p:txBody>
      </p:sp>
      <p:sp>
        <p:nvSpPr>
          <p:cNvPr id="47" name="Shape 40"/>
          <p:cNvSpPr/>
          <p:nvPr/>
        </p:nvSpPr>
        <p:spPr>
          <a:xfrm>
            <a:off x="6309360" y="3712464"/>
            <a:ext cx="0" cy="301752"/>
          </a:xfrm>
          <a:prstGeom prst="line">
            <a:avLst/>
          </a:prstGeom>
          <a:noFill/>
          <a:ln w="28575">
            <a:solidFill>
              <a:srgbClr val="C8102E"/>
            </a:solidFill>
            <a:prstDash val="solid"/>
            <a:tailEnd type="triangle"/>
          </a:ln>
        </p:spPr>
        <p:txBody>
          <a:bodyPr/>
          <a:lstStyle/>
          <a:p>
            <a:endParaRPr lang="en-US"/>
          </a:p>
        </p:txBody>
      </p:sp>
      <p:sp>
        <p:nvSpPr>
          <p:cNvPr id="48" name="Text 41"/>
          <p:cNvSpPr/>
          <p:nvPr/>
        </p:nvSpPr>
        <p:spPr>
          <a:xfrm>
            <a:off x="6373368" y="3749040"/>
            <a:ext cx="914400" cy="219456"/>
          </a:xfrm>
          <a:prstGeom prst="rect">
            <a:avLst/>
          </a:prstGeom>
          <a:noFill/>
          <a:ln/>
        </p:spPr>
        <p:txBody>
          <a:bodyPr wrap="square" rtlCol="0" anchor="ctr"/>
          <a:lstStyle/>
          <a:p>
            <a:pPr marL="0" indent="0" algn="l">
              <a:buNone/>
            </a:pPr>
            <a:r>
              <a:rPr lang="en-US" sz="750" b="1" i="1" dirty="0">
                <a:solidFill>
                  <a:srgbClr val="C8102E"/>
                </a:solidFill>
                <a:latin typeface="Tahoma" pitchFamily="34" charset="0"/>
                <a:ea typeface="Tahoma" pitchFamily="34" charset="-122"/>
                <a:cs typeface="Tahoma" pitchFamily="34" charset="-120"/>
              </a:rPr>
              <a:t>re-check</a:t>
            </a:r>
            <a:endParaRPr lang="en-US" sz="750" dirty="0"/>
          </a:p>
        </p:txBody>
      </p:sp>
      <p:sp>
        <p:nvSpPr>
          <p:cNvPr id="49" name="Text 42"/>
          <p:cNvSpPr/>
          <p:nvPr/>
        </p:nvSpPr>
        <p:spPr>
          <a:xfrm>
            <a:off x="5916168" y="4251960"/>
            <a:ext cx="548640" cy="219456"/>
          </a:xfrm>
          <a:prstGeom prst="rect">
            <a:avLst/>
          </a:prstGeom>
          <a:noFill/>
          <a:ln/>
        </p:spPr>
        <p:txBody>
          <a:bodyPr wrap="square" rtlCol="0" anchor="ctr"/>
          <a:lstStyle/>
          <a:p>
            <a:pPr marL="0" indent="0" algn="l">
              <a:buNone/>
            </a:pPr>
            <a:r>
              <a:rPr lang="en-US" sz="900" b="1" dirty="0">
                <a:solidFill>
                  <a:srgbClr val="3F464C"/>
                </a:solidFill>
                <a:latin typeface="Tahoma" pitchFamily="34" charset="0"/>
                <a:ea typeface="Tahoma" pitchFamily="34" charset="-122"/>
                <a:cs typeface="Tahoma" pitchFamily="34" charset="-120"/>
              </a:rPr>
              <a:t>Yes</a:t>
            </a:r>
            <a:endParaRPr lang="en-US" sz="900" dirty="0"/>
          </a:p>
        </p:txBody>
      </p:sp>
      <p:sp>
        <p:nvSpPr>
          <p:cNvPr id="50" name="Shape 43"/>
          <p:cNvSpPr/>
          <p:nvPr/>
        </p:nvSpPr>
        <p:spPr>
          <a:xfrm>
            <a:off x="6135624" y="4197096"/>
            <a:ext cx="2734056" cy="0"/>
          </a:xfrm>
          <a:prstGeom prst="line">
            <a:avLst/>
          </a:prstGeom>
          <a:noFill/>
          <a:ln w="28575">
            <a:solidFill>
              <a:srgbClr val="6E767D"/>
            </a:solidFill>
            <a:prstDash val="solid"/>
            <a:tailEnd type="triangle"/>
          </a:ln>
        </p:spPr>
        <p:txBody>
          <a:bodyPr/>
          <a:lstStyle/>
          <a:p>
            <a:endParaRPr lang="en-US"/>
          </a:p>
        </p:txBody>
      </p:sp>
      <p:sp>
        <p:nvSpPr>
          <p:cNvPr id="51" name="Shape 44"/>
          <p:cNvSpPr/>
          <p:nvPr/>
        </p:nvSpPr>
        <p:spPr>
          <a:xfrm>
            <a:off x="8869680" y="3840480"/>
            <a:ext cx="1554480" cy="713232"/>
          </a:xfrm>
          <a:prstGeom prst="roundRect">
            <a:avLst>
              <a:gd name="adj" fmla="val 10256"/>
            </a:avLst>
          </a:prstGeom>
          <a:solidFill>
            <a:srgbClr val="3F464C"/>
          </a:solidFill>
          <a:ln/>
          <a:effectLst>
            <a:outerShdw blurRad="88900" dist="38100" dir="5400000" algn="bl" rotWithShape="0">
              <a:srgbClr val="2B3036">
                <a:alpha val="18000"/>
              </a:srgbClr>
            </a:outerShdw>
          </a:effectLst>
        </p:spPr>
        <p:txBody>
          <a:bodyPr/>
          <a:lstStyle/>
          <a:p>
            <a:endParaRPr lang="en-US"/>
          </a:p>
        </p:txBody>
      </p:sp>
      <p:sp>
        <p:nvSpPr>
          <p:cNvPr id="52" name="Text 45"/>
          <p:cNvSpPr/>
          <p:nvPr/>
        </p:nvSpPr>
        <p:spPr>
          <a:xfrm>
            <a:off x="8915400" y="3840480"/>
            <a:ext cx="1463040" cy="713232"/>
          </a:xfrm>
          <a:prstGeom prst="rect">
            <a:avLst/>
          </a:prstGeom>
          <a:noFill/>
          <a:ln/>
        </p:spPr>
        <p:txBody>
          <a:bodyPr wrap="square" rtlCol="0" anchor="ctr"/>
          <a:lstStyle/>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Approve Data</a:t>
            </a:r>
            <a:endParaRPr lang="en-US" sz="850" dirty="0"/>
          </a:p>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for Domestic Use</a:t>
            </a:r>
            <a:endParaRPr lang="en-US" sz="850" dirty="0"/>
          </a:p>
        </p:txBody>
      </p:sp>
      <p:sp>
        <p:nvSpPr>
          <p:cNvPr id="53" name="Shape 46"/>
          <p:cNvSpPr/>
          <p:nvPr/>
        </p:nvSpPr>
        <p:spPr>
          <a:xfrm>
            <a:off x="10424160" y="4197096"/>
            <a:ext cx="0" cy="0"/>
          </a:xfrm>
          <a:prstGeom prst="line">
            <a:avLst/>
          </a:prstGeom>
          <a:noFill/>
          <a:ln w="28575">
            <a:solidFill>
              <a:srgbClr val="3F464C"/>
            </a:solidFill>
            <a:prstDash val="solid"/>
            <a:tailEnd type="triangle"/>
          </a:ln>
        </p:spPr>
        <p:txBody>
          <a:bodyPr/>
          <a:lstStyle/>
          <a:p>
            <a:endParaRPr lang="en-US"/>
          </a:p>
        </p:txBody>
      </p:sp>
      <p:sp>
        <p:nvSpPr>
          <p:cNvPr id="54" name="Shape 47"/>
          <p:cNvSpPr/>
          <p:nvPr/>
        </p:nvSpPr>
        <p:spPr>
          <a:xfrm>
            <a:off x="10309860" y="3840480"/>
            <a:ext cx="1417320" cy="713232"/>
          </a:xfrm>
          <a:prstGeom prst="roundRect">
            <a:avLst>
              <a:gd name="adj" fmla="val 10256"/>
            </a:avLst>
          </a:prstGeom>
          <a:solidFill>
            <a:srgbClr val="9AA1A7"/>
          </a:solidFill>
          <a:ln/>
          <a:effectLst>
            <a:outerShdw blurRad="88900" dist="38100" dir="5400000" algn="bl" rotWithShape="0">
              <a:srgbClr val="2B3036">
                <a:alpha val="18000"/>
              </a:srgbClr>
            </a:outerShdw>
          </a:effectLst>
        </p:spPr>
        <p:txBody>
          <a:bodyPr/>
          <a:lstStyle/>
          <a:p>
            <a:endParaRPr lang="en-US"/>
          </a:p>
        </p:txBody>
      </p:sp>
      <p:sp>
        <p:nvSpPr>
          <p:cNvPr id="55" name="Text 48"/>
          <p:cNvSpPr/>
          <p:nvPr/>
        </p:nvSpPr>
        <p:spPr>
          <a:xfrm>
            <a:off x="10355580" y="3840480"/>
            <a:ext cx="1325880" cy="713232"/>
          </a:xfrm>
          <a:prstGeom prst="rect">
            <a:avLst/>
          </a:prstGeom>
          <a:noFill/>
          <a:ln/>
        </p:spPr>
        <p:txBody>
          <a:bodyPr wrap="square" rtlCol="0" anchor="ctr"/>
          <a:lstStyle/>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Transmit</a:t>
            </a:r>
            <a:endParaRPr lang="en-US" sz="900" dirty="0"/>
          </a:p>
          <a:p>
            <a:pPr marL="0" indent="0" algn="ctr">
              <a:lnSpc>
                <a:spcPts val="1050"/>
              </a:lnSpc>
              <a:buNone/>
            </a:pPr>
            <a:r>
              <a:rPr lang="en-US" sz="900" b="1" dirty="0">
                <a:solidFill>
                  <a:srgbClr val="FFFFFF"/>
                </a:solidFill>
                <a:latin typeface="Tahoma" pitchFamily="34" charset="0"/>
                <a:ea typeface="Tahoma" pitchFamily="34" charset="-122"/>
                <a:cs typeface="Tahoma" pitchFamily="34" charset="-120"/>
              </a:rPr>
              <a:t>Information</a:t>
            </a:r>
            <a:endParaRPr lang="en-US" sz="900" dirty="0"/>
          </a:p>
        </p:txBody>
      </p:sp>
      <p:sp>
        <p:nvSpPr>
          <p:cNvPr id="56" name="Shape 49"/>
          <p:cNvSpPr/>
          <p:nvPr/>
        </p:nvSpPr>
        <p:spPr>
          <a:xfrm>
            <a:off x="11018520" y="4553712"/>
            <a:ext cx="0" cy="521208"/>
          </a:xfrm>
          <a:prstGeom prst="line">
            <a:avLst/>
          </a:prstGeom>
          <a:noFill/>
          <a:ln w="28575">
            <a:solidFill>
              <a:srgbClr val="3F464C"/>
            </a:solidFill>
            <a:prstDash val="solid"/>
            <a:tailEnd type="triangle"/>
          </a:ln>
        </p:spPr>
        <p:txBody>
          <a:bodyPr/>
          <a:lstStyle/>
          <a:p>
            <a:endParaRPr lang="en-US"/>
          </a:p>
        </p:txBody>
      </p:sp>
      <p:sp>
        <p:nvSpPr>
          <p:cNvPr id="57" name="Shape 50"/>
          <p:cNvSpPr/>
          <p:nvPr/>
        </p:nvSpPr>
        <p:spPr>
          <a:xfrm>
            <a:off x="10241280" y="5074920"/>
            <a:ext cx="1554480" cy="713232"/>
          </a:xfrm>
          <a:prstGeom prst="roundRect">
            <a:avLst>
              <a:gd name="adj" fmla="val 10256"/>
            </a:avLst>
          </a:prstGeom>
          <a:solidFill>
            <a:srgbClr val="3F464C"/>
          </a:solidFill>
          <a:ln/>
          <a:effectLst>
            <a:outerShdw blurRad="88900" dist="38100" dir="5400000" algn="bl" rotWithShape="0">
              <a:srgbClr val="2B3036">
                <a:alpha val="18000"/>
              </a:srgbClr>
            </a:outerShdw>
          </a:effectLst>
        </p:spPr>
        <p:txBody>
          <a:bodyPr/>
          <a:lstStyle/>
          <a:p>
            <a:endParaRPr lang="en-US"/>
          </a:p>
        </p:txBody>
      </p:sp>
      <p:sp>
        <p:nvSpPr>
          <p:cNvPr id="58" name="Text 51"/>
          <p:cNvSpPr/>
          <p:nvPr/>
        </p:nvSpPr>
        <p:spPr>
          <a:xfrm>
            <a:off x="10287000" y="5074920"/>
            <a:ext cx="1463040" cy="713232"/>
          </a:xfrm>
          <a:prstGeom prst="rect">
            <a:avLst/>
          </a:prstGeom>
          <a:noFill/>
          <a:ln/>
        </p:spPr>
        <p:txBody>
          <a:bodyPr wrap="square" rtlCol="0" anchor="ctr"/>
          <a:lstStyle/>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Receive Info</a:t>
            </a:r>
            <a:endParaRPr lang="en-US" sz="850" dirty="0"/>
          </a:p>
          <a:p>
            <a:pPr marL="0" indent="0" algn="ctr">
              <a:lnSpc>
                <a:spcPts val="1050"/>
              </a:lnSpc>
              <a:buNone/>
            </a:pPr>
            <a:r>
              <a:rPr lang="en-US" sz="850" b="1" dirty="0">
                <a:solidFill>
                  <a:srgbClr val="FFFFFF"/>
                </a:solidFill>
                <a:latin typeface="Tahoma" pitchFamily="34" charset="0"/>
                <a:ea typeface="Tahoma" pitchFamily="34" charset="-122"/>
                <a:cs typeface="Tahoma" pitchFamily="34" charset="-120"/>
              </a:rPr>
              <a:t>for Tax Purposes</a:t>
            </a:r>
            <a:endParaRPr lang="en-US" sz="850" dirty="0"/>
          </a:p>
        </p:txBody>
      </p:sp>
      <p:sp>
        <p:nvSpPr>
          <p:cNvPr id="59" name="Shape 52"/>
          <p:cNvSpPr/>
          <p:nvPr/>
        </p:nvSpPr>
        <p:spPr>
          <a:xfrm>
            <a:off x="9372600" y="5129784"/>
            <a:ext cx="603504" cy="603504"/>
          </a:xfrm>
          <a:prstGeom prst="ellipse">
            <a:avLst/>
          </a:prstGeom>
          <a:solidFill>
            <a:srgbClr val="3F464C"/>
          </a:solidFill>
          <a:ln w="33020">
            <a:solidFill>
              <a:srgbClr val="C8102E"/>
            </a:solidFill>
            <a:prstDash val="solid"/>
          </a:ln>
          <a:effectLst>
            <a:outerShdw blurRad="88900" dist="38100" dir="5400000" algn="bl" rotWithShape="0">
              <a:srgbClr val="2B3036">
                <a:alpha val="18000"/>
              </a:srgbClr>
            </a:outerShdw>
          </a:effectLst>
        </p:spPr>
        <p:txBody>
          <a:bodyPr/>
          <a:lstStyle/>
          <a:p>
            <a:endParaRPr lang="en-US"/>
          </a:p>
        </p:txBody>
      </p:sp>
      <p:pic>
        <p:nvPicPr>
          <p:cNvPr id="60" name="Image 5" descr="preencoded.png"/>
          <p:cNvPicPr>
            <a:picLocks noChangeAspect="1"/>
          </p:cNvPicPr>
          <p:nvPr/>
        </p:nvPicPr>
        <p:blipFill>
          <a:blip r:embed="rId8"/>
          <a:stretch>
            <a:fillRect/>
          </a:stretch>
        </p:blipFill>
        <p:spPr>
          <a:xfrm>
            <a:off x="9518904" y="5276088"/>
            <a:ext cx="310896" cy="310896"/>
          </a:xfrm>
          <a:prstGeom prst="rect">
            <a:avLst/>
          </a:prstGeom>
        </p:spPr>
      </p:pic>
      <p:sp>
        <p:nvSpPr>
          <p:cNvPr id="61" name="Shape 53"/>
          <p:cNvSpPr/>
          <p:nvPr/>
        </p:nvSpPr>
        <p:spPr>
          <a:xfrm>
            <a:off x="10241280" y="5431536"/>
            <a:ext cx="0" cy="0"/>
          </a:xfrm>
          <a:prstGeom prst="line">
            <a:avLst/>
          </a:prstGeom>
          <a:noFill/>
          <a:ln w="28575">
            <a:solidFill>
              <a:srgbClr val="3F464C"/>
            </a:solidFill>
            <a:prstDash val="solid"/>
            <a:tailEnd type="triangle"/>
          </a:ln>
        </p:spPr>
        <p:txBody>
          <a:bodyPr/>
          <a:lstStyle/>
          <a:p>
            <a:endParaRPr lang="en-US"/>
          </a:p>
        </p:txBody>
      </p:sp>
      <p:sp>
        <p:nvSpPr>
          <p:cNvPr id="62" name="Shape 54"/>
          <p:cNvSpPr/>
          <p:nvPr/>
        </p:nvSpPr>
        <p:spPr>
          <a:xfrm>
            <a:off x="502920" y="6199632"/>
            <a:ext cx="237744" cy="237744"/>
          </a:xfrm>
          <a:prstGeom prst="roundRect">
            <a:avLst>
              <a:gd name="adj" fmla="val 15385"/>
            </a:avLst>
          </a:prstGeom>
          <a:solidFill>
            <a:srgbClr val="3F464C"/>
          </a:solidFill>
          <a:ln/>
        </p:spPr>
        <p:txBody>
          <a:bodyPr/>
          <a:lstStyle/>
          <a:p>
            <a:endParaRPr lang="en-US"/>
          </a:p>
        </p:txBody>
      </p:sp>
      <p:sp>
        <p:nvSpPr>
          <p:cNvPr id="63" name="Text 55"/>
          <p:cNvSpPr/>
          <p:nvPr/>
        </p:nvSpPr>
        <p:spPr>
          <a:xfrm>
            <a:off x="80467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Start / success</a:t>
            </a:r>
            <a:endParaRPr lang="en-US" sz="950" dirty="0"/>
          </a:p>
        </p:txBody>
      </p:sp>
      <p:sp>
        <p:nvSpPr>
          <p:cNvPr id="64" name="Shape 56"/>
          <p:cNvSpPr/>
          <p:nvPr/>
        </p:nvSpPr>
        <p:spPr>
          <a:xfrm>
            <a:off x="2468880" y="6199632"/>
            <a:ext cx="237744" cy="237744"/>
          </a:xfrm>
          <a:prstGeom prst="roundRect">
            <a:avLst>
              <a:gd name="adj" fmla="val 15385"/>
            </a:avLst>
          </a:prstGeom>
          <a:solidFill>
            <a:srgbClr val="C8102E"/>
          </a:solidFill>
          <a:ln/>
        </p:spPr>
        <p:txBody>
          <a:bodyPr/>
          <a:lstStyle/>
          <a:p>
            <a:endParaRPr lang="en-US"/>
          </a:p>
        </p:txBody>
      </p:sp>
      <p:sp>
        <p:nvSpPr>
          <p:cNvPr id="65" name="Text 57"/>
          <p:cNvSpPr/>
          <p:nvPr/>
        </p:nvSpPr>
        <p:spPr>
          <a:xfrm>
            <a:off x="277063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Error / loop</a:t>
            </a:r>
            <a:endParaRPr lang="en-US" sz="950" dirty="0"/>
          </a:p>
        </p:txBody>
      </p:sp>
      <p:sp>
        <p:nvSpPr>
          <p:cNvPr id="66" name="Shape 58"/>
          <p:cNvSpPr/>
          <p:nvPr/>
        </p:nvSpPr>
        <p:spPr>
          <a:xfrm>
            <a:off x="4434840" y="6199632"/>
            <a:ext cx="237744" cy="237744"/>
          </a:xfrm>
          <a:prstGeom prst="roundRect">
            <a:avLst>
              <a:gd name="adj" fmla="val 15385"/>
            </a:avLst>
          </a:prstGeom>
          <a:solidFill>
            <a:srgbClr val="6E767D"/>
          </a:solidFill>
          <a:ln/>
        </p:spPr>
        <p:txBody>
          <a:bodyPr/>
          <a:lstStyle/>
          <a:p>
            <a:endParaRPr lang="en-US"/>
          </a:p>
        </p:txBody>
      </p:sp>
      <p:sp>
        <p:nvSpPr>
          <p:cNvPr id="67" name="Text 59"/>
          <p:cNvSpPr/>
          <p:nvPr/>
        </p:nvSpPr>
        <p:spPr>
          <a:xfrm>
            <a:off x="473659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Validation / PJ</a:t>
            </a:r>
            <a:endParaRPr lang="en-US" sz="950" dirty="0"/>
          </a:p>
        </p:txBody>
      </p:sp>
      <p:sp>
        <p:nvSpPr>
          <p:cNvPr id="68" name="Shape 60"/>
          <p:cNvSpPr/>
          <p:nvPr/>
        </p:nvSpPr>
        <p:spPr>
          <a:xfrm>
            <a:off x="6400800" y="6199632"/>
            <a:ext cx="237744" cy="237744"/>
          </a:xfrm>
          <a:prstGeom prst="roundRect">
            <a:avLst>
              <a:gd name="adj" fmla="val 15385"/>
            </a:avLst>
          </a:prstGeom>
          <a:solidFill>
            <a:srgbClr val="9AA1A7"/>
          </a:solidFill>
          <a:ln/>
        </p:spPr>
        <p:txBody>
          <a:bodyPr/>
          <a:lstStyle/>
          <a:p>
            <a:endParaRPr lang="en-US"/>
          </a:p>
        </p:txBody>
      </p:sp>
      <p:sp>
        <p:nvSpPr>
          <p:cNvPr id="69" name="Text 61"/>
          <p:cNvSpPr/>
          <p:nvPr/>
        </p:nvSpPr>
        <p:spPr>
          <a:xfrm>
            <a:off x="670255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CRS Unit task</a:t>
            </a:r>
            <a:endParaRPr lang="en-US" sz="950" dirty="0"/>
          </a:p>
        </p:txBody>
      </p:sp>
      <p:sp>
        <p:nvSpPr>
          <p:cNvPr id="70" name="Shape 62"/>
          <p:cNvSpPr/>
          <p:nvPr/>
        </p:nvSpPr>
        <p:spPr>
          <a:xfrm>
            <a:off x="8366760" y="6190488"/>
            <a:ext cx="237744" cy="237744"/>
          </a:xfrm>
          <a:prstGeom prst="diamond">
            <a:avLst/>
          </a:prstGeom>
          <a:solidFill>
            <a:srgbClr val="C8102E"/>
          </a:solidFill>
          <a:ln/>
        </p:spPr>
        <p:txBody>
          <a:bodyPr/>
          <a:lstStyle/>
          <a:p>
            <a:endParaRPr lang="en-US"/>
          </a:p>
        </p:txBody>
      </p:sp>
      <p:sp>
        <p:nvSpPr>
          <p:cNvPr id="71" name="Text 63"/>
          <p:cNvSpPr/>
          <p:nvPr/>
        </p:nvSpPr>
        <p:spPr>
          <a:xfrm>
            <a:off x="8668512" y="6163056"/>
            <a:ext cx="1828800" cy="292608"/>
          </a:xfrm>
          <a:prstGeom prst="rect">
            <a:avLst/>
          </a:prstGeom>
          <a:noFill/>
          <a:ln/>
        </p:spPr>
        <p:txBody>
          <a:bodyPr wrap="square" rtlCol="0" anchor="ctr"/>
          <a:lstStyle/>
          <a:p>
            <a:pPr marL="0" indent="0">
              <a:buNone/>
            </a:pPr>
            <a:r>
              <a:rPr lang="en-US" sz="950" dirty="0">
                <a:solidFill>
                  <a:srgbClr val="3F464C"/>
                </a:solidFill>
                <a:latin typeface="Tahoma" pitchFamily="34" charset="0"/>
                <a:ea typeface="Tahoma" pitchFamily="34" charset="-122"/>
                <a:cs typeface="Tahoma" pitchFamily="34" charset="-120"/>
              </a:rPr>
              <a:t>XOR gateway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114407" y="320040"/>
            <a:ext cx="1617345" cy="457200"/>
          </a:xfrm>
          <a:prstGeom prst="rect">
            <a:avLst/>
          </a:prstGeom>
        </p:spPr>
      </p:pic>
      <p:sp>
        <p:nvSpPr>
          <p:cNvPr id="3" name="Text 0"/>
          <p:cNvSpPr/>
          <p:nvPr/>
        </p:nvSpPr>
        <p:spPr>
          <a:xfrm>
            <a:off x="548640" y="365760"/>
            <a:ext cx="9144000" cy="502920"/>
          </a:xfrm>
          <a:prstGeom prst="rect">
            <a:avLst/>
          </a:prstGeom>
          <a:noFill/>
          <a:ln/>
        </p:spPr>
        <p:txBody>
          <a:bodyPr wrap="square" rtlCol="0" anchor="ctr"/>
          <a:lstStyle/>
          <a:p>
            <a:pPr marL="0" indent="0">
              <a:buNone/>
            </a:pPr>
            <a:r>
              <a:rPr lang="en-US" sz="2600" b="1" dirty="0">
                <a:solidFill>
                  <a:srgbClr val="3F464C"/>
                </a:solidFill>
                <a:latin typeface="Tahoma" pitchFamily="34" charset="0"/>
                <a:ea typeface="Tahoma" pitchFamily="34" charset="-122"/>
                <a:cs typeface="Tahoma" pitchFamily="34" charset="-120"/>
              </a:rPr>
              <a:t>Flow Task Register</a:t>
            </a:r>
            <a:endParaRPr lang="en-US" sz="2600" dirty="0"/>
          </a:p>
        </p:txBody>
      </p:sp>
      <p:sp>
        <p:nvSpPr>
          <p:cNvPr id="4" name="Text 1"/>
          <p:cNvSpPr/>
          <p:nvPr/>
        </p:nvSpPr>
        <p:spPr>
          <a:xfrm>
            <a:off x="566928" y="896112"/>
            <a:ext cx="10972800" cy="320040"/>
          </a:xfrm>
          <a:prstGeom prst="rect">
            <a:avLst/>
          </a:prstGeom>
          <a:noFill/>
          <a:ln/>
        </p:spPr>
        <p:txBody>
          <a:bodyPr wrap="square" rtlCol="0" anchor="ctr"/>
          <a:lstStyle/>
          <a:p>
            <a:pPr marL="0" indent="0">
              <a:buNone/>
            </a:pPr>
            <a:r>
              <a:rPr lang="en-US" sz="1250" dirty="0">
                <a:solidFill>
                  <a:srgbClr val="6E767D"/>
                </a:solidFill>
                <a:latin typeface="Tahoma" pitchFamily="34" charset="0"/>
                <a:ea typeface="Tahoma" pitchFamily="34" charset="-122"/>
                <a:cs typeface="Tahoma" pitchFamily="34" charset="-120"/>
              </a:rPr>
              <a:t>Outgoing and incoming steps side by side, with the shared validation gateway and DocRefID remediation loop.</a:t>
            </a:r>
            <a:endParaRPr lang="en-US" sz="1250" dirty="0"/>
          </a:p>
        </p:txBody>
      </p:sp>
      <p:sp>
        <p:nvSpPr>
          <p:cNvPr id="5" name="Shape 2"/>
          <p:cNvSpPr/>
          <p:nvPr/>
        </p:nvSpPr>
        <p:spPr>
          <a:xfrm>
            <a:off x="548640" y="1399032"/>
            <a:ext cx="5486400" cy="457200"/>
          </a:xfrm>
          <a:prstGeom prst="roundRect">
            <a:avLst>
              <a:gd name="adj" fmla="val 12000"/>
            </a:avLst>
          </a:prstGeom>
          <a:solidFill>
            <a:srgbClr val="C8102E"/>
          </a:solidFill>
          <a:ln/>
        </p:spPr>
        <p:txBody>
          <a:bodyPr/>
          <a:lstStyle/>
          <a:p>
            <a:endParaRPr lang="en-US"/>
          </a:p>
        </p:txBody>
      </p:sp>
      <p:sp>
        <p:nvSpPr>
          <p:cNvPr id="6" name="Text 3"/>
          <p:cNvSpPr/>
          <p:nvPr/>
        </p:nvSpPr>
        <p:spPr>
          <a:xfrm>
            <a:off x="685800" y="1399032"/>
            <a:ext cx="5212080" cy="457200"/>
          </a:xfrm>
          <a:prstGeom prst="rect">
            <a:avLst/>
          </a:prstGeom>
          <a:noFill/>
          <a:ln/>
        </p:spPr>
        <p:txBody>
          <a:bodyPr wrap="square" rtlCol="0" anchor="ctr"/>
          <a:lstStyle/>
          <a:p>
            <a:pPr marL="0" indent="0">
              <a:buNone/>
            </a:pPr>
            <a:r>
              <a:rPr lang="en-US" sz="1300" b="1" dirty="0">
                <a:solidFill>
                  <a:srgbClr val="FFFFFF"/>
                </a:solidFill>
                <a:latin typeface="Tahoma" pitchFamily="34" charset="0"/>
                <a:ea typeface="Tahoma" pitchFamily="34" charset="-122"/>
                <a:cs typeface="Tahoma" pitchFamily="34" charset="-120"/>
              </a:rPr>
              <a:t>OUTGOING FLOW</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92808"/>
          <a:ext cx="5486400" cy="3108960"/>
        </p:xfrm>
        <a:graphic>
          <a:graphicData uri="http://schemas.openxmlformats.org/drawingml/2006/table">
            <a:tbl>
              <a:tblPr/>
              <a:tblGrid>
                <a:gridCol w="5029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tblGrid>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1</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Submit RFI onboarding application</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0"/>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2</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Review onboarding application</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G1</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Onboarding approved?  Yes / No</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2"/>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Register &amp; authorize RFI</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3</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Submit CRS data return</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4"/>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4</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Perform data-quality validation</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G2</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Data complete &amp; valid?  Yes / No</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6"/>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5-7</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Amend (DocRefID) &amp; resubmit → loop</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8-10</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Approve, package &amp; transmit via CTS</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8"/>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11</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Jurisdiction receives CRS information</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Shape 4"/>
          <p:cNvSpPr/>
          <p:nvPr/>
        </p:nvSpPr>
        <p:spPr>
          <a:xfrm>
            <a:off x="6263640" y="1399032"/>
            <a:ext cx="5486400" cy="457200"/>
          </a:xfrm>
          <a:prstGeom prst="roundRect">
            <a:avLst>
              <a:gd name="adj" fmla="val 12000"/>
            </a:avLst>
          </a:prstGeom>
          <a:solidFill>
            <a:srgbClr val="3F464C"/>
          </a:solidFill>
          <a:ln/>
        </p:spPr>
        <p:txBody>
          <a:bodyPr/>
          <a:lstStyle/>
          <a:p>
            <a:endParaRPr lang="en-US"/>
          </a:p>
        </p:txBody>
      </p:sp>
      <p:sp>
        <p:nvSpPr>
          <p:cNvPr id="9" name="Text 5"/>
          <p:cNvSpPr/>
          <p:nvPr/>
        </p:nvSpPr>
        <p:spPr>
          <a:xfrm>
            <a:off x="6400800" y="1399032"/>
            <a:ext cx="5212080" cy="457200"/>
          </a:xfrm>
          <a:prstGeom prst="rect">
            <a:avLst/>
          </a:prstGeom>
          <a:noFill/>
          <a:ln/>
        </p:spPr>
        <p:txBody>
          <a:bodyPr wrap="square" rtlCol="0" anchor="ctr"/>
          <a:lstStyle/>
          <a:p>
            <a:pPr marL="0" indent="0">
              <a:buNone/>
            </a:pPr>
            <a:r>
              <a:rPr lang="en-US" sz="1300" b="1" dirty="0">
                <a:solidFill>
                  <a:srgbClr val="FFFFFF"/>
                </a:solidFill>
                <a:latin typeface="Tahoma" pitchFamily="34" charset="0"/>
                <a:ea typeface="Tahoma" pitchFamily="34" charset="-122"/>
                <a:cs typeface="Tahoma" pitchFamily="34" charset="-120"/>
              </a:rPr>
              <a:t>INCOMING FLOW</a:t>
            </a:r>
            <a:endParaRPr lang="en-US" sz="13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63640" y="1892808"/>
          <a:ext cx="5486400" cy="3108960"/>
        </p:xfrm>
        <a:graphic>
          <a:graphicData uri="http://schemas.openxmlformats.org/drawingml/2006/table">
            <a:tbl>
              <a:tblPr/>
              <a:tblGrid>
                <a:gridCol w="50292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tblGrid>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1</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Receive &amp; register CRS data via CTS</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0"/>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2</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Perform data-quality validation</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G</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Data complete &amp; valid?  Yes / No</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2"/>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3</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Notify jurisdiction of errors</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4</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Jurisdiction amends via DocRefID</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4"/>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5</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Receive corrected data &amp; re-validate</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Loop until valid</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6"/>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6</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Approve validated data for domestic use</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7</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Transmit to relevant tax authorities</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EEF0F2"/>
                    </a:solidFill>
                  </a:tcPr>
                </a:tc>
                <a:extLst>
                  <a:ext uri="{0D108BD9-81ED-4DB2-BD59-A6C34878D82A}">
                    <a16:rowId xmlns:a16="http://schemas.microsoft.com/office/drawing/2014/main" val="10008"/>
                  </a:ext>
                </a:extLst>
              </a:tr>
              <a:tr h="310896">
                <a:tc>
                  <a:txBody>
                    <a:bodyPr/>
                    <a:lstStyle/>
                    <a:p>
                      <a:pPr marL="0" indent="0" algn="ctr">
                        <a:buNone/>
                      </a:pPr>
                      <a:r>
                        <a:rPr lang="en-US" sz="950" b="1" dirty="0">
                          <a:solidFill>
                            <a:srgbClr val="C8102E"/>
                          </a:solidFill>
                          <a:latin typeface="Tahoma" pitchFamily="34" charset="0"/>
                          <a:ea typeface="Tahoma" pitchFamily="34" charset="-122"/>
                          <a:cs typeface="Tahoma" pitchFamily="34" charset="-120"/>
                        </a:rPr>
                        <a:t>End</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tc>
                  <a:txBody>
                    <a:bodyPr/>
                    <a:lstStyle/>
                    <a:p>
                      <a:pPr marL="0" indent="0" algn="l">
                        <a:buNone/>
                      </a:pPr>
                      <a:r>
                        <a:rPr lang="en-US" sz="950" dirty="0">
                          <a:solidFill>
                            <a:srgbClr val="3F464C"/>
                          </a:solidFill>
                          <a:latin typeface="Tahoma" pitchFamily="34" charset="0"/>
                          <a:ea typeface="Tahoma" pitchFamily="34" charset="-122"/>
                          <a:cs typeface="Tahoma" pitchFamily="34" charset="-120"/>
                        </a:rPr>
                        <a:t>Information disseminated for tax purposes</a:t>
                      </a:r>
                      <a:endParaRPr lang="en-US" sz="950" dirty="0">
                        <a:latin typeface="Tahoma" charset="0"/>
                        <a:ea typeface="Tahoma" charset="0"/>
                        <a:cs typeface="Tahoma" charset="0"/>
                      </a:endParaRPr>
                    </a:p>
                  </a:txBody>
                  <a:tcPr marL="76200" marR="63500" marT="25400" marB="25400" anchor="ctr">
                    <a:lnL w="6350" cap="flat" cmpd="sng" algn="ctr">
                      <a:solidFill>
                        <a:srgbClr val="DADEE1"/>
                      </a:solidFill>
                      <a:prstDash val="solid"/>
                      <a:round/>
                      <a:headEnd type="none" w="med" len="med"/>
                      <a:tailEnd type="none" w="med" len="med"/>
                    </a:lnL>
                    <a:lnR w="6350" cap="flat" cmpd="sng" algn="ctr">
                      <a:solidFill>
                        <a:srgbClr val="DADEE1"/>
                      </a:solidFill>
                      <a:prstDash val="solid"/>
                      <a:round/>
                      <a:headEnd type="none" w="med" len="med"/>
                      <a:tailEnd type="none" w="med" len="med"/>
                    </a:lnR>
                    <a:lnT w="6350" cap="flat" cmpd="sng" algn="ctr">
                      <a:solidFill>
                        <a:srgbClr val="DADEE1"/>
                      </a:solidFill>
                      <a:prstDash val="solid"/>
                      <a:round/>
                      <a:headEnd type="none" w="med" len="med"/>
                      <a:tailEnd type="none" w="med" len="med"/>
                    </a:lnT>
                    <a:lnB w="6350" cap="flat" cmpd="sng" algn="ctr">
                      <a:solidFill>
                        <a:srgbClr val="DADE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794</TotalTime>
  <Words>508</Words>
  <Application>Microsoft Macintosh PowerPoint</Application>
  <PresentationFormat>Widescreen</PresentationFormat>
  <Paragraphs>159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Roboto</vt:lpstr>
      <vt:lpstr>Tahoma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CRS Information Exchange — Outgoing &amp; Incoming BPMN 2.0</dc:title>
  <dc:subject>PptxGenJS Presentation</dc:subject>
  <dc:creator>Hope Ikuru</dc:creator>
  <cp:lastModifiedBy>proimpact Consulting</cp:lastModifiedBy>
  <cp:revision>3</cp:revision>
  <dcterms:created xsi:type="dcterms:W3CDTF">2026-07-07T12:44:56Z</dcterms:created>
  <dcterms:modified xsi:type="dcterms:W3CDTF">2026-07-12T16:36:56Z</dcterms:modified>
</cp:coreProperties>
</file>